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7"/>
  </p:notesMasterIdLst>
  <p:sldIdLst>
    <p:sldId id="257" r:id="rId5"/>
    <p:sldId id="260" r:id="rId6"/>
    <p:sldId id="261" r:id="rId7"/>
    <p:sldId id="263" r:id="rId8"/>
    <p:sldId id="264" r:id="rId9"/>
    <p:sldId id="265" r:id="rId10"/>
    <p:sldId id="267" r:id="rId11"/>
    <p:sldId id="266" r:id="rId12"/>
    <p:sldId id="269" r:id="rId13"/>
    <p:sldId id="268"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79707" autoAdjust="0"/>
  </p:normalViewPr>
  <p:slideViewPr>
    <p:cSldViewPr snapToGrid="0">
      <p:cViewPr varScale="1">
        <p:scale>
          <a:sx n="79" d="100"/>
          <a:sy n="79" d="100"/>
        </p:scale>
        <p:origin x="127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tonio Anzora Jr" userId="0b7f19ef104c8f31" providerId="LiveId" clId="{728442DB-1AEA-44B8-B1D6-594786BBEB5D}"/>
    <pc:docChg chg="undo custSel addSld delSld modSld sldOrd">
      <pc:chgData name="Antonio Anzora Jr" userId="0b7f19ef104c8f31" providerId="LiveId" clId="{728442DB-1AEA-44B8-B1D6-594786BBEB5D}" dt="2026-05-06T08:27:18.327" v="5441" actId="22"/>
      <pc:docMkLst>
        <pc:docMk/>
      </pc:docMkLst>
      <pc:sldChg chg="modNotesTx">
        <pc:chgData name="Antonio Anzora Jr" userId="0b7f19ef104c8f31" providerId="LiveId" clId="{728442DB-1AEA-44B8-B1D6-594786BBEB5D}" dt="2026-05-03T20:04:46.129" v="453" actId="20577"/>
        <pc:sldMkLst>
          <pc:docMk/>
          <pc:sldMk cId="2475805559" sldId="257"/>
        </pc:sldMkLst>
      </pc:sldChg>
      <pc:sldChg chg="addSp delSp modSp mod">
        <pc:chgData name="Antonio Anzora Jr" userId="0b7f19ef104c8f31" providerId="LiveId" clId="{728442DB-1AEA-44B8-B1D6-594786BBEB5D}" dt="2026-05-06T08:27:18.327" v="5441" actId="22"/>
        <pc:sldMkLst>
          <pc:docMk/>
          <pc:sldMk cId="4289888808" sldId="260"/>
        </pc:sldMkLst>
        <pc:spChg chg="mod">
          <ac:chgData name="Antonio Anzora Jr" userId="0b7f19ef104c8f31" providerId="LiveId" clId="{728442DB-1AEA-44B8-B1D6-594786BBEB5D}" dt="2026-05-03T21:11:06.905" v="5394" actId="20577"/>
          <ac:spMkLst>
            <pc:docMk/>
            <pc:sldMk cId="4289888808" sldId="260"/>
            <ac:spMk id="3" creationId="{ACCD2DCA-6B1C-0E06-F33B-20978CDDE251}"/>
          </ac:spMkLst>
        </pc:spChg>
        <pc:spChg chg="add del">
          <ac:chgData name="Antonio Anzora Jr" userId="0b7f19ef104c8f31" providerId="LiveId" clId="{728442DB-1AEA-44B8-B1D6-594786BBEB5D}" dt="2026-05-06T08:27:18.327" v="5441" actId="22"/>
          <ac:spMkLst>
            <pc:docMk/>
            <pc:sldMk cId="4289888808" sldId="260"/>
            <ac:spMk id="6" creationId="{EB2C06F0-55F7-0611-6167-EC00EA659404}"/>
          </ac:spMkLst>
        </pc:spChg>
      </pc:sldChg>
      <pc:sldChg chg="modSp mod modNotesTx">
        <pc:chgData name="Antonio Anzora Jr" userId="0b7f19ef104c8f31" providerId="LiveId" clId="{728442DB-1AEA-44B8-B1D6-594786BBEB5D}" dt="2026-05-06T07:16:18.191" v="5439" actId="20577"/>
        <pc:sldMkLst>
          <pc:docMk/>
          <pc:sldMk cId="2832139573" sldId="261"/>
        </pc:sldMkLst>
        <pc:spChg chg="mod">
          <ac:chgData name="Antonio Anzora Jr" userId="0b7f19ef104c8f31" providerId="LiveId" clId="{728442DB-1AEA-44B8-B1D6-594786BBEB5D}" dt="2026-05-03T20:20:48.364" v="2166" actId="33524"/>
          <ac:spMkLst>
            <pc:docMk/>
            <pc:sldMk cId="2832139573" sldId="261"/>
            <ac:spMk id="3" creationId="{72B7D73D-08B9-93EE-6CAB-3D4D574786D6}"/>
          </ac:spMkLst>
        </pc:spChg>
      </pc:sldChg>
      <pc:sldChg chg="modSp mod modNotesTx">
        <pc:chgData name="Antonio Anzora Jr" userId="0b7f19ef104c8f31" providerId="LiveId" clId="{728442DB-1AEA-44B8-B1D6-594786BBEB5D}" dt="2026-05-03T20:14:35.190" v="1682" actId="20577"/>
        <pc:sldMkLst>
          <pc:docMk/>
          <pc:sldMk cId="689483234" sldId="263"/>
        </pc:sldMkLst>
        <pc:spChg chg="mod">
          <ac:chgData name="Antonio Anzora Jr" userId="0b7f19ef104c8f31" providerId="LiveId" clId="{728442DB-1AEA-44B8-B1D6-594786BBEB5D}" dt="2026-05-03T20:12:45.394" v="1503" actId="20577"/>
          <ac:spMkLst>
            <pc:docMk/>
            <pc:sldMk cId="689483234" sldId="263"/>
            <ac:spMk id="3" creationId="{1BD849DA-24C4-1B91-CA09-D81A008FEC3E}"/>
          </ac:spMkLst>
        </pc:spChg>
      </pc:sldChg>
      <pc:sldChg chg="addSp delSp modSp mod modNotesTx">
        <pc:chgData name="Antonio Anzora Jr" userId="0b7f19ef104c8f31" providerId="LiveId" clId="{728442DB-1AEA-44B8-B1D6-594786BBEB5D}" dt="2026-05-03T20:33:21.284" v="2871" actId="14100"/>
        <pc:sldMkLst>
          <pc:docMk/>
          <pc:sldMk cId="371781154" sldId="264"/>
        </pc:sldMkLst>
        <pc:spChg chg="add mod">
          <ac:chgData name="Antonio Anzora Jr" userId="0b7f19ef104c8f31" providerId="LiveId" clId="{728442DB-1AEA-44B8-B1D6-594786BBEB5D}" dt="2026-05-03T20:33:21.284" v="2871" actId="14100"/>
          <ac:spMkLst>
            <pc:docMk/>
            <pc:sldMk cId="371781154" sldId="264"/>
            <ac:spMk id="7" creationId="{639E382A-19A6-FE66-47B3-61F127D9689F}"/>
          </ac:spMkLst>
        </pc:spChg>
        <pc:picChg chg="add mod ord">
          <ac:chgData name="Antonio Anzora Jr" userId="0b7f19ef104c8f31" providerId="LiveId" clId="{728442DB-1AEA-44B8-B1D6-594786BBEB5D}" dt="2026-05-03T20:15:45.114" v="1690" actId="1076"/>
          <ac:picMkLst>
            <pc:docMk/>
            <pc:sldMk cId="371781154" sldId="264"/>
            <ac:picMk id="6" creationId="{85E2FAE7-501B-BE76-A480-5F658BCA2EF6}"/>
          </ac:picMkLst>
        </pc:picChg>
      </pc:sldChg>
      <pc:sldChg chg="modSp mod">
        <pc:chgData name="Antonio Anzora Jr" userId="0b7f19ef104c8f31" providerId="LiveId" clId="{728442DB-1AEA-44B8-B1D6-594786BBEB5D}" dt="2026-05-03T20:24:30.214" v="2777" actId="20577"/>
        <pc:sldMkLst>
          <pc:docMk/>
          <pc:sldMk cId="1090680404" sldId="265"/>
        </pc:sldMkLst>
        <pc:spChg chg="mod">
          <ac:chgData name="Antonio Anzora Jr" userId="0b7f19ef104c8f31" providerId="LiveId" clId="{728442DB-1AEA-44B8-B1D6-594786BBEB5D}" dt="2026-05-03T20:20:27.497" v="2165" actId="20577"/>
          <ac:spMkLst>
            <pc:docMk/>
            <pc:sldMk cId="1090680404" sldId="265"/>
            <ac:spMk id="2" creationId="{2F568F44-8944-F5FE-FD52-D4C935C51FCC}"/>
          </ac:spMkLst>
        </pc:spChg>
        <pc:spChg chg="mod">
          <ac:chgData name="Antonio Anzora Jr" userId="0b7f19ef104c8f31" providerId="LiveId" clId="{728442DB-1AEA-44B8-B1D6-594786BBEB5D}" dt="2026-05-03T20:24:30.214" v="2777" actId="20577"/>
          <ac:spMkLst>
            <pc:docMk/>
            <pc:sldMk cId="1090680404" sldId="265"/>
            <ac:spMk id="3" creationId="{F9754AB4-8E08-3833-F91C-2BD4AD69458C}"/>
          </ac:spMkLst>
        </pc:spChg>
      </pc:sldChg>
      <pc:sldChg chg="addSp delSp modSp mod modNotesTx">
        <pc:chgData name="Antonio Anzora Jr" userId="0b7f19ef104c8f31" providerId="LiveId" clId="{728442DB-1AEA-44B8-B1D6-594786BBEB5D}" dt="2026-05-04T02:04:10.182" v="5429" actId="20577"/>
        <pc:sldMkLst>
          <pc:docMk/>
          <pc:sldMk cId="4235160114" sldId="266"/>
        </pc:sldMkLst>
        <pc:spChg chg="mod">
          <ac:chgData name="Antonio Anzora Jr" userId="0b7f19ef104c8f31" providerId="LiveId" clId="{728442DB-1AEA-44B8-B1D6-594786BBEB5D}" dt="2026-05-03T20:39:03.054" v="3476" actId="20577"/>
          <ac:spMkLst>
            <pc:docMk/>
            <pc:sldMk cId="4235160114" sldId="266"/>
            <ac:spMk id="2" creationId="{8BDB0E4E-D867-9F30-2AA9-F74739CE9FF3}"/>
          </ac:spMkLst>
        </pc:spChg>
        <pc:spChg chg="add mod">
          <ac:chgData name="Antonio Anzora Jr" userId="0b7f19ef104c8f31" providerId="LiveId" clId="{728442DB-1AEA-44B8-B1D6-594786BBEB5D}" dt="2026-05-03T20:38:03.750" v="3445" actId="1076"/>
          <ac:spMkLst>
            <pc:docMk/>
            <pc:sldMk cId="4235160114" sldId="266"/>
            <ac:spMk id="7" creationId="{2551B54C-4A1C-FF98-CAC7-68FEB48BF09C}"/>
          </ac:spMkLst>
        </pc:spChg>
        <pc:picChg chg="add mod ord">
          <ac:chgData name="Antonio Anzora Jr" userId="0b7f19ef104c8f31" providerId="LiveId" clId="{728442DB-1AEA-44B8-B1D6-594786BBEB5D}" dt="2026-05-03T20:42:18.861" v="4125" actId="14100"/>
          <ac:picMkLst>
            <pc:docMk/>
            <pc:sldMk cId="4235160114" sldId="266"/>
            <ac:picMk id="11" creationId="{E19A9504-E1FA-6FB4-2F7A-854B0E622441}"/>
          </ac:picMkLst>
        </pc:picChg>
      </pc:sldChg>
      <pc:sldChg chg="addSp delSp modSp mod ord modNotesTx">
        <pc:chgData name="Antonio Anzora Jr" userId="0b7f19ef104c8f31" providerId="LiveId" clId="{728442DB-1AEA-44B8-B1D6-594786BBEB5D}" dt="2026-05-04T02:03:48.906" v="5418" actId="20577"/>
        <pc:sldMkLst>
          <pc:docMk/>
          <pc:sldMk cId="339275679" sldId="267"/>
        </pc:sldMkLst>
        <pc:spChg chg="mod">
          <ac:chgData name="Antonio Anzora Jr" userId="0b7f19ef104c8f31" providerId="LiveId" clId="{728442DB-1AEA-44B8-B1D6-594786BBEB5D}" dt="2026-05-03T20:40:24.167" v="3735" actId="20577"/>
          <ac:spMkLst>
            <pc:docMk/>
            <pc:sldMk cId="339275679" sldId="267"/>
            <ac:spMk id="2" creationId="{E814A872-4C62-2D2E-F93B-D1D5CB9E599E}"/>
          </ac:spMkLst>
        </pc:spChg>
        <pc:spChg chg="add mod">
          <ac:chgData name="Antonio Anzora Jr" userId="0b7f19ef104c8f31" providerId="LiveId" clId="{728442DB-1AEA-44B8-B1D6-594786BBEB5D}" dt="2026-05-03T20:35:40.155" v="3081" actId="14100"/>
          <ac:spMkLst>
            <pc:docMk/>
            <pc:sldMk cId="339275679" sldId="267"/>
            <ac:spMk id="7" creationId="{FA381E66-0DB6-067C-41BC-5C2E39BA98A0}"/>
          </ac:spMkLst>
        </pc:spChg>
        <pc:picChg chg="add mod ord">
          <ac:chgData name="Antonio Anzora Jr" userId="0b7f19ef104c8f31" providerId="LiveId" clId="{728442DB-1AEA-44B8-B1D6-594786BBEB5D}" dt="2026-05-03T20:34:00.638" v="2877" actId="1076"/>
          <ac:picMkLst>
            <pc:docMk/>
            <pc:sldMk cId="339275679" sldId="267"/>
            <ac:picMk id="6" creationId="{1138A8A6-6CDD-D38A-ECE4-B63227CD6D41}"/>
          </ac:picMkLst>
        </pc:picChg>
      </pc:sldChg>
      <pc:sldChg chg="addSp delSp modSp mod modNotesTx">
        <pc:chgData name="Antonio Anzora Jr" userId="0b7f19ef104c8f31" providerId="LiveId" clId="{728442DB-1AEA-44B8-B1D6-594786BBEB5D}" dt="2026-05-04T02:04:44.078" v="5438" actId="20577"/>
        <pc:sldMkLst>
          <pc:docMk/>
          <pc:sldMk cId="581494024" sldId="268"/>
        </pc:sldMkLst>
        <pc:spChg chg="mod">
          <ac:chgData name="Antonio Anzora Jr" userId="0b7f19ef104c8f31" providerId="LiveId" clId="{728442DB-1AEA-44B8-B1D6-594786BBEB5D}" dt="2026-05-03T20:40:36.117" v="3761" actId="313"/>
          <ac:spMkLst>
            <pc:docMk/>
            <pc:sldMk cId="581494024" sldId="268"/>
            <ac:spMk id="2" creationId="{6A66F4C9-E8F2-D9D7-5214-2567FC4095C1}"/>
          </ac:spMkLst>
        </pc:spChg>
        <pc:spChg chg="add mod">
          <ac:chgData name="Antonio Anzora Jr" userId="0b7f19ef104c8f31" providerId="LiveId" clId="{728442DB-1AEA-44B8-B1D6-594786BBEB5D}" dt="2026-05-03T20:46:37.489" v="4562" actId="20577"/>
          <ac:spMkLst>
            <pc:docMk/>
            <pc:sldMk cId="581494024" sldId="268"/>
            <ac:spMk id="5" creationId="{992BC532-927A-5832-3237-245C32570C6D}"/>
          </ac:spMkLst>
        </pc:spChg>
        <pc:picChg chg="add mod ord">
          <ac:chgData name="Antonio Anzora Jr" userId="0b7f19ef104c8f31" providerId="LiveId" clId="{728442DB-1AEA-44B8-B1D6-594786BBEB5D}" dt="2026-05-03T20:45:29.716" v="4363" actId="14100"/>
          <ac:picMkLst>
            <pc:docMk/>
            <pc:sldMk cId="581494024" sldId="268"/>
            <ac:picMk id="7" creationId="{EA22CADC-DBA5-66EC-A5D2-852BF2B78DE6}"/>
          </ac:picMkLst>
        </pc:picChg>
      </pc:sldChg>
      <pc:sldChg chg="addSp delSp modSp mod ord modNotesTx">
        <pc:chgData name="Antonio Anzora Jr" userId="0b7f19ef104c8f31" providerId="LiveId" clId="{728442DB-1AEA-44B8-B1D6-594786BBEB5D}" dt="2026-05-04T02:04:26.118" v="5434" actId="20577"/>
        <pc:sldMkLst>
          <pc:docMk/>
          <pc:sldMk cId="351193929" sldId="269"/>
        </pc:sldMkLst>
        <pc:spChg chg="mod">
          <ac:chgData name="Antonio Anzora Jr" userId="0b7f19ef104c8f31" providerId="LiveId" clId="{728442DB-1AEA-44B8-B1D6-594786BBEB5D}" dt="2026-05-03T20:40:18.063" v="3730" actId="20577"/>
          <ac:spMkLst>
            <pc:docMk/>
            <pc:sldMk cId="351193929" sldId="269"/>
            <ac:spMk id="2" creationId="{06C5D53F-BE4C-3007-C63E-24546D60C5DA}"/>
          </ac:spMkLst>
        </pc:spChg>
        <pc:spChg chg="add mod">
          <ac:chgData name="Antonio Anzora Jr" userId="0b7f19ef104c8f31" providerId="LiveId" clId="{728442DB-1AEA-44B8-B1D6-594786BBEB5D}" dt="2026-05-03T20:43:34.622" v="4358" actId="20577"/>
          <ac:spMkLst>
            <pc:docMk/>
            <pc:sldMk cId="351193929" sldId="269"/>
            <ac:spMk id="5" creationId="{579ED708-7E08-7B60-6B04-5AAC53533FE2}"/>
          </ac:spMkLst>
        </pc:spChg>
        <pc:picChg chg="add mod ord">
          <ac:chgData name="Antonio Anzora Jr" userId="0b7f19ef104c8f31" providerId="LiveId" clId="{728442DB-1AEA-44B8-B1D6-594786BBEB5D}" dt="2026-05-03T20:42:42.593" v="4131" actId="14100"/>
          <ac:picMkLst>
            <pc:docMk/>
            <pc:sldMk cId="351193929" sldId="269"/>
            <ac:picMk id="7" creationId="{CF2F4372-B4FE-02C3-D3D7-B19D5F4A998C}"/>
          </ac:picMkLst>
        </pc:picChg>
      </pc:sldChg>
      <pc:sldChg chg="addSp delSp modSp mod">
        <pc:chgData name="Antonio Anzora Jr" userId="0b7f19ef104c8f31" providerId="LiveId" clId="{728442DB-1AEA-44B8-B1D6-594786BBEB5D}" dt="2026-05-03T20:51:53.179" v="5092"/>
        <pc:sldMkLst>
          <pc:docMk/>
          <pc:sldMk cId="2810775872" sldId="270"/>
        </pc:sldMkLst>
        <pc:spChg chg="add mod">
          <ac:chgData name="Antonio Anzora Jr" userId="0b7f19ef104c8f31" providerId="LiveId" clId="{728442DB-1AEA-44B8-B1D6-594786BBEB5D}" dt="2026-05-03T20:51:53.179" v="5092"/>
          <ac:spMkLst>
            <pc:docMk/>
            <pc:sldMk cId="2810775872" sldId="270"/>
            <ac:spMk id="7" creationId="{F4F1F55F-6ED3-35B8-9BCA-5AFDD02F665B}"/>
          </ac:spMkLst>
        </pc:spChg>
        <pc:picChg chg="add mod ord">
          <ac:chgData name="Antonio Anzora Jr" userId="0b7f19ef104c8f31" providerId="LiveId" clId="{728442DB-1AEA-44B8-B1D6-594786BBEB5D}" dt="2026-05-03T20:47:49.967" v="4805" actId="14100"/>
          <ac:picMkLst>
            <pc:docMk/>
            <pc:sldMk cId="2810775872" sldId="270"/>
            <ac:picMk id="6" creationId="{88E5725C-6962-CAB6-35D1-AD47090DF111}"/>
          </ac:picMkLst>
        </pc:picChg>
      </pc:sldChg>
      <pc:sldChg chg="modSp mod">
        <pc:chgData name="Antonio Anzora Jr" userId="0b7f19ef104c8f31" providerId="LiveId" clId="{728442DB-1AEA-44B8-B1D6-594786BBEB5D}" dt="2026-05-03T21:08:38.928" v="5386" actId="20577"/>
        <pc:sldMkLst>
          <pc:docMk/>
          <pc:sldMk cId="382190577" sldId="271"/>
        </pc:sldMkLst>
        <pc:spChg chg="mod">
          <ac:chgData name="Antonio Anzora Jr" userId="0b7f19ef104c8f31" providerId="LiveId" clId="{728442DB-1AEA-44B8-B1D6-594786BBEB5D}" dt="2026-05-03T21:06:38.332" v="5127" actId="20577"/>
          <ac:spMkLst>
            <pc:docMk/>
            <pc:sldMk cId="382190577" sldId="271"/>
            <ac:spMk id="2" creationId="{8ECB5979-B3C5-5AFE-3AB1-1D8FFF09F0E8}"/>
          </ac:spMkLst>
        </pc:spChg>
        <pc:spChg chg="mod">
          <ac:chgData name="Antonio Anzora Jr" userId="0b7f19ef104c8f31" providerId="LiveId" clId="{728442DB-1AEA-44B8-B1D6-594786BBEB5D}" dt="2026-05-03T21:08:38.928" v="5386" actId="20577"/>
          <ac:spMkLst>
            <pc:docMk/>
            <pc:sldMk cId="382190577" sldId="271"/>
            <ac:spMk id="3" creationId="{1BE02391-1CCE-B6F5-0B9E-D445571CE97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A18D26-10E9-461C-9FE6-798C6E0BAAF0}" type="datetimeFigureOut">
              <a:rPr lang="en-US" smtClean="0"/>
              <a:t>5/6/2026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051D29-8EA3-42D3-BB95-BE917086C5B1}" type="slidenum">
              <a:rPr lang="en-US" smtClean="0"/>
              <a:t>‹#›</a:t>
            </a:fld>
            <a:endParaRPr lang="en-US"/>
          </a:p>
        </p:txBody>
      </p:sp>
    </p:spTree>
    <p:extLst>
      <p:ext uri="{BB962C8B-B14F-4D97-AF65-F5344CB8AC3E}">
        <p14:creationId xmlns:p14="http://schemas.microsoft.com/office/powerpoint/2010/main" val="37749958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my name is Antonio. This presentation covers my implementation of a RISC-V out-of-order processor using Tomasulo’s Algorithm in VHDL</a:t>
            </a:r>
          </a:p>
        </p:txBody>
      </p:sp>
      <p:sp>
        <p:nvSpPr>
          <p:cNvPr id="4" name="Slide Number Placeholder 3"/>
          <p:cNvSpPr>
            <a:spLocks noGrp="1"/>
          </p:cNvSpPr>
          <p:nvPr>
            <p:ph type="sldNum" sz="quarter" idx="5"/>
          </p:nvPr>
        </p:nvSpPr>
        <p:spPr/>
        <p:txBody>
          <a:bodyPr/>
          <a:lstStyle/>
          <a:p>
            <a:fld id="{FA051D29-8EA3-42D3-BB95-BE917086C5B1}" type="slidenum">
              <a:rPr lang="en-US" smtClean="0"/>
              <a:t>1</a:t>
            </a:fld>
            <a:endParaRPr lang="en-US"/>
          </a:p>
        </p:txBody>
      </p:sp>
    </p:spTree>
    <p:extLst>
      <p:ext uri="{BB962C8B-B14F-4D97-AF65-F5344CB8AC3E}">
        <p14:creationId xmlns:p14="http://schemas.microsoft.com/office/powerpoint/2010/main" val="6090197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explain why out-of-order execution matters.</a:t>
            </a:r>
          </a:p>
          <a:p>
            <a:r>
              <a:rPr lang="en-US" b="1" dirty="0"/>
              <a:t>In-order execution wastes cycles waiting for dependencies.</a:t>
            </a:r>
            <a:endParaRPr lang="en-US" dirty="0"/>
          </a:p>
          <a:p>
            <a:r>
              <a:rPr lang="en-US" dirty="0"/>
              <a:t>Imagine you have three instructions. Instruction 1 adds two numbers and stores the result in register x1. Instruction 2 needs that result — it can't execute until instruction 1 finishes. So instruction 2 stalls and waits.</a:t>
            </a:r>
          </a:p>
          <a:p>
            <a:r>
              <a:rPr lang="en-US" dirty="0"/>
              <a:t>Meanwhile, instruction 3 doesn't depend on anything. It's ready to go right now. But in an in-order processor, instruction 3 has to wait behind instruction 2. It sits idle. That's wasted processing power.</a:t>
            </a:r>
          </a:p>
          <a:p>
            <a:r>
              <a:rPr lang="en-US" b="1" dirty="0"/>
              <a:t>Modern CPUs execute 3-4 instructions per cycle.</a:t>
            </a:r>
            <a:endParaRPr lang="en-US" dirty="0"/>
          </a:p>
          <a:p>
            <a:r>
              <a:rPr lang="en-US" dirty="0"/>
              <a:t>That means the processor has multiple execution units working in parallel. An ALU, a memory unit, maybe more. They can all work at the same time. But if we're waiting for dependencies, we're not using all that hardware. We're leaving performance on the table.</a:t>
            </a:r>
          </a:p>
          <a:p>
            <a:r>
              <a:rPr lang="en-US" b="1" dirty="0"/>
              <a:t>Out-of-order execution allows instructions to execute based on data availability.</a:t>
            </a:r>
            <a:endParaRPr lang="en-US" dirty="0"/>
          </a:p>
          <a:p>
            <a:r>
              <a:rPr lang="en-US" dirty="0"/>
              <a:t>Instead of waiting for program order, we execute whichever instruction is ready. If instruction 3 has its operands ready, it goes now. Don't wait for instruction 2.</a:t>
            </a:r>
          </a:p>
          <a:p>
            <a:r>
              <a:rPr lang="en-US" b="1" dirty="0"/>
              <a:t>This reduces cycle time.</a:t>
            </a:r>
            <a:endParaRPr lang="en-US" dirty="0"/>
          </a:p>
          <a:p>
            <a:r>
              <a:rPr lang="en-US" dirty="0"/>
              <a:t>More instructions finish per cycle. Faster performance. That's why modern CPUs use it.</a:t>
            </a:r>
          </a:p>
          <a:p>
            <a:endParaRPr lang="en-US" dirty="0"/>
          </a:p>
        </p:txBody>
      </p:sp>
      <p:sp>
        <p:nvSpPr>
          <p:cNvPr id="4" name="Slide Number Placeholder 3"/>
          <p:cNvSpPr>
            <a:spLocks noGrp="1"/>
          </p:cNvSpPr>
          <p:nvPr>
            <p:ph type="sldNum" sz="quarter" idx="5"/>
          </p:nvPr>
        </p:nvSpPr>
        <p:spPr/>
        <p:txBody>
          <a:bodyPr/>
          <a:lstStyle/>
          <a:p>
            <a:fld id="{FA051D29-8EA3-42D3-BB95-BE917086C5B1}" type="slidenum">
              <a:rPr lang="en-US" smtClean="0"/>
              <a:t>3</a:t>
            </a:fld>
            <a:endParaRPr lang="en-US"/>
          </a:p>
        </p:txBody>
      </p:sp>
    </p:spTree>
    <p:extLst>
      <p:ext uri="{BB962C8B-B14F-4D97-AF65-F5344CB8AC3E}">
        <p14:creationId xmlns:p14="http://schemas.microsoft.com/office/powerpoint/2010/main" val="6298928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Tomasulo's Algorithm has three stages. Let me break down each one simply.</a:t>
            </a:r>
          </a:p>
          <a:p>
            <a:r>
              <a:rPr lang="en-US" b="1" dirty="0"/>
              <a:t>Stage 1: ISSUE</a:t>
            </a:r>
            <a:endParaRPr lang="en-US" dirty="0"/>
          </a:p>
          <a:p>
            <a:r>
              <a:rPr lang="en-US" dirty="0"/>
              <a:t>An instruction comes in. We check: are both operands ready right now? If yes, send it to the Reservation Station immediately with both values. If no — if one operand is still being computed — send it to the RS anyway, but without that operand. The RS will wait for it.</a:t>
            </a:r>
          </a:p>
          <a:p>
            <a:r>
              <a:rPr lang="en-US" b="1" dirty="0"/>
              <a:t>Stage 2: EXECUTE</a:t>
            </a:r>
            <a:endParaRPr lang="en-US" dirty="0"/>
          </a:p>
          <a:p>
            <a:r>
              <a:rPr lang="en-US" dirty="0"/>
              <a:t>The instruction sits in the RS waiting. Meanwhile, other instructions are finishing their execution. Their results broadcast on the CDB — the Common Data Bus.</a:t>
            </a:r>
          </a:p>
          <a:p>
            <a:r>
              <a:rPr lang="en-US" dirty="0"/>
              <a:t>The RS watches the CDB. When a result appears that it's waiting for, it grabs it. Once both operands are there, the instruction executes right away.</a:t>
            </a:r>
          </a:p>
          <a:p>
            <a:r>
              <a:rPr lang="en-US" dirty="0"/>
              <a:t>This is the magic: different instructions get their operands at different times. So they execute at different times. Out of order.</a:t>
            </a:r>
          </a:p>
          <a:p>
            <a:r>
              <a:rPr lang="en-US" b="1" dirty="0"/>
              <a:t>Stage 3: WRITE RESULT</a:t>
            </a:r>
            <a:endParaRPr lang="en-US" dirty="0"/>
          </a:p>
          <a:p>
            <a:r>
              <a:rPr lang="en-US" dirty="0"/>
              <a:t>The instruction finishes. The result broadcasts on the CDB with a tag that says which instruction it's for. The ROB marks that instruction as done. And when it's that instruction's turn in program order, the result gets written to the register file.</a:t>
            </a:r>
          </a:p>
          <a:p>
            <a:r>
              <a:rPr lang="en-US" dirty="0"/>
              <a:t>That's it. Three stages. The key is the RS and CDB working together — they let instructions execute whenever they're ready, not in order.</a:t>
            </a:r>
          </a:p>
        </p:txBody>
      </p:sp>
      <p:sp>
        <p:nvSpPr>
          <p:cNvPr id="4" name="Slide Number Placeholder 3"/>
          <p:cNvSpPr>
            <a:spLocks noGrp="1"/>
          </p:cNvSpPr>
          <p:nvPr>
            <p:ph type="sldNum" sz="quarter" idx="5"/>
          </p:nvPr>
        </p:nvSpPr>
        <p:spPr/>
        <p:txBody>
          <a:bodyPr/>
          <a:lstStyle/>
          <a:p>
            <a:fld id="{FA051D29-8EA3-42D3-BB95-BE917086C5B1}" type="slidenum">
              <a:rPr lang="en-US" smtClean="0"/>
              <a:t>4</a:t>
            </a:fld>
            <a:endParaRPr lang="en-US"/>
          </a:p>
        </p:txBody>
      </p:sp>
    </p:spTree>
    <p:extLst>
      <p:ext uri="{BB962C8B-B14F-4D97-AF65-F5344CB8AC3E}">
        <p14:creationId xmlns:p14="http://schemas.microsoft.com/office/powerpoint/2010/main" val="16249370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the 8 components connect. Instructions enter through the Instruction Queue, get named in the RAT, scheduled in Reservation Stations, executed in functional units, result broadcast on CDB, and finally committed in order by the ROB.</a:t>
            </a:r>
          </a:p>
          <a:p>
            <a:r>
              <a:rPr lang="en-US" dirty="0"/>
              <a:t>The magic happens in three places: RAT for register renaming, RS for dynamic scheduling, and ROB for in-order commitment.</a:t>
            </a:r>
          </a:p>
        </p:txBody>
      </p:sp>
      <p:sp>
        <p:nvSpPr>
          <p:cNvPr id="4" name="Slide Number Placeholder 3"/>
          <p:cNvSpPr>
            <a:spLocks noGrp="1"/>
          </p:cNvSpPr>
          <p:nvPr>
            <p:ph type="sldNum" sz="quarter" idx="5"/>
          </p:nvPr>
        </p:nvSpPr>
        <p:spPr/>
        <p:txBody>
          <a:bodyPr/>
          <a:lstStyle/>
          <a:p>
            <a:fld id="{FA051D29-8EA3-42D3-BB95-BE917086C5B1}" type="slidenum">
              <a:rPr lang="en-US" smtClean="0"/>
              <a:t>5</a:t>
            </a:fld>
            <a:endParaRPr lang="en-US"/>
          </a:p>
        </p:txBody>
      </p:sp>
    </p:spTree>
    <p:extLst>
      <p:ext uri="{BB962C8B-B14F-4D97-AF65-F5344CB8AC3E}">
        <p14:creationId xmlns:p14="http://schemas.microsoft.com/office/powerpoint/2010/main" val="9660749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components make Tomasulo work. Let me explain each one simply.</a:t>
            </a:r>
          </a:p>
          <a:p>
            <a:r>
              <a:rPr lang="en-US" b="1" dirty="0"/>
              <a:t>RAT — Register Alias Table</a:t>
            </a:r>
            <a:endParaRPr lang="en-US" dirty="0"/>
          </a:p>
          <a:p>
            <a:r>
              <a:rPr lang="en-US" dirty="0"/>
              <a:t>Here's the problem: two instructions both write to register x1. That's a conflict. The RAT solves it by renaming.</a:t>
            </a:r>
          </a:p>
          <a:p>
            <a:r>
              <a:rPr lang="en-US" dirty="0"/>
              <a:t>When instruction 1 writes to x1, the RAT says 'you're actually writing to ROB slot 3.' When instruction 2 writes to x1, it says 'you're writing to ROB slot 5.' Now they don't conflict. Different slots, no problem.</a:t>
            </a:r>
          </a:p>
          <a:p>
            <a:r>
              <a:rPr lang="en-US" dirty="0"/>
              <a:t>Why does this matter? Because now both instructions can execute in parallel without stepping on each other. The RAT eliminates false dependencies.</a:t>
            </a:r>
          </a:p>
          <a:p>
            <a:r>
              <a:rPr lang="en-US" b="1" dirty="0"/>
              <a:t>Reservation Stations — RS</a:t>
            </a:r>
            <a:endParaRPr lang="en-US" dirty="0"/>
          </a:p>
          <a:p>
            <a:r>
              <a:rPr lang="en-US" dirty="0"/>
              <a:t>The RS is a waiting room for instructions. When an instruction arrives and one operand isn't ready, it waits here.</a:t>
            </a:r>
          </a:p>
          <a:p>
            <a:r>
              <a:rPr lang="en-US" dirty="0"/>
              <a:t>But while it's waiting, other instructions can keep moving. The RS watches the CDB — the result bus. When a result it needs appears, it grabs it.</a:t>
            </a:r>
          </a:p>
          <a:p>
            <a:r>
              <a:rPr lang="en-US" dirty="0"/>
              <a:t>Once it has both operands, it executes immediately. No waiting in line. No program order. Whichever instruction is ready goes first. This is where out-of-order execution actually happens.</a:t>
            </a:r>
          </a:p>
          <a:p>
            <a:r>
              <a:rPr lang="en-US" b="1" dirty="0"/>
              <a:t>ROB — Reorder Buffer</a:t>
            </a:r>
            <a:endParaRPr lang="en-US" dirty="0"/>
          </a:p>
          <a:p>
            <a:r>
              <a:rPr lang="en-US" dirty="0"/>
              <a:t>The ROB is the safety net. Even though instructions execute out of order, the ROB makes sure they commit in order.</a:t>
            </a:r>
          </a:p>
          <a:p>
            <a:r>
              <a:rPr lang="en-US" dirty="0"/>
              <a:t>Instructions enter in order: slot 1, slot 2, slot 3. They execute at different times. But they commit in order — slot 1 first, then slot 2, then slot 3. Results go to the register file in program order.</a:t>
            </a:r>
          </a:p>
          <a:p>
            <a:r>
              <a:rPr lang="en-US" dirty="0"/>
              <a:t>This is why it's safe. The processor looks like it executed sequentially to the outside world. But internally, we got the speed of out-of-order execution.</a:t>
            </a:r>
          </a:p>
          <a:p>
            <a:r>
              <a:rPr lang="en-US" dirty="0"/>
              <a:t>That's the magic: RAT removes conflicts, RS executes dynamically, ROB commits safely</a:t>
            </a:r>
          </a:p>
          <a:p>
            <a:endParaRPr lang="en-US" dirty="0"/>
          </a:p>
        </p:txBody>
      </p:sp>
      <p:sp>
        <p:nvSpPr>
          <p:cNvPr id="4" name="Slide Number Placeholder 3"/>
          <p:cNvSpPr>
            <a:spLocks noGrp="1"/>
          </p:cNvSpPr>
          <p:nvPr>
            <p:ph type="sldNum" sz="quarter" idx="5"/>
          </p:nvPr>
        </p:nvSpPr>
        <p:spPr/>
        <p:txBody>
          <a:bodyPr/>
          <a:lstStyle/>
          <a:p>
            <a:fld id="{FA051D29-8EA3-42D3-BB95-BE917086C5B1}" type="slidenum">
              <a:rPr lang="en-US" smtClean="0"/>
              <a:t>6</a:t>
            </a:fld>
            <a:endParaRPr lang="en-US"/>
          </a:p>
        </p:txBody>
      </p:sp>
    </p:spTree>
    <p:extLst>
      <p:ext uri="{BB962C8B-B14F-4D97-AF65-F5344CB8AC3E}">
        <p14:creationId xmlns:p14="http://schemas.microsoft.com/office/powerpoint/2010/main" val="37090567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register file is the foundation. It has dual-port capability, two simultaneous writes and reads. This is essential for issuing instructions with two operands in parallel.</a:t>
            </a:r>
          </a:p>
          <a:p>
            <a:endParaRPr lang="en-US" dirty="0"/>
          </a:p>
          <a:p>
            <a:r>
              <a:rPr lang="en-US" dirty="0"/>
              <a:t>"This is the Register File simulation. The Register File is basically the processor's memory for temporary storage. Each register holds a 32-bit value.</a:t>
            </a:r>
          </a:p>
          <a:p>
            <a:r>
              <a:rPr lang="en-US" dirty="0"/>
              <a:t>Look at the waveform. You see </a:t>
            </a:r>
            <a:r>
              <a:rPr lang="en-US" sz="1200" kern="1200" dirty="0">
                <a:solidFill>
                  <a:schemeClr val="tx1"/>
                </a:solidFill>
                <a:latin typeface="+mn-lt"/>
                <a:ea typeface="+mn-ea"/>
                <a:cs typeface="+mn-cs"/>
              </a:rPr>
              <a:t>WriteReg1_TB</a:t>
            </a:r>
            <a:r>
              <a:rPr lang="en-US" dirty="0"/>
              <a:t> and </a:t>
            </a:r>
            <a:r>
              <a:rPr lang="en-US" sz="1200" kern="1200" dirty="0">
                <a:solidFill>
                  <a:schemeClr val="tx1"/>
                </a:solidFill>
                <a:latin typeface="+mn-lt"/>
                <a:ea typeface="+mn-ea"/>
                <a:cs typeface="+mn-cs"/>
              </a:rPr>
              <a:t>WriteReg2_TB</a:t>
            </a:r>
            <a:r>
              <a:rPr lang="en-US" dirty="0"/>
              <a:t> — these specify which registers we're writing to. At 40ns, we write to register x1. At 60ns, we write to register x2. Notice they're happening at the same time — that's the dual-port capability. Two writes in parallel.</a:t>
            </a:r>
          </a:p>
          <a:p>
            <a:r>
              <a:rPr lang="en-US" dirty="0"/>
              <a:t>Then look at </a:t>
            </a:r>
            <a:r>
              <a:rPr lang="en-US" sz="1200" kern="1200" dirty="0">
                <a:solidFill>
                  <a:schemeClr val="tx1"/>
                </a:solidFill>
                <a:latin typeface="+mn-lt"/>
                <a:ea typeface="+mn-ea"/>
                <a:cs typeface="+mn-cs"/>
              </a:rPr>
              <a:t>WriteData1_TB</a:t>
            </a:r>
            <a:r>
              <a:rPr lang="en-US" dirty="0"/>
              <a:t> and </a:t>
            </a:r>
            <a:r>
              <a:rPr lang="en-US" sz="1200" kern="1200" dirty="0">
                <a:solidFill>
                  <a:schemeClr val="tx1"/>
                </a:solidFill>
                <a:latin typeface="+mn-lt"/>
                <a:ea typeface="+mn-ea"/>
                <a:cs typeface="+mn-cs"/>
              </a:rPr>
              <a:t>WriteData2_TB</a:t>
            </a:r>
            <a:r>
              <a:rPr lang="en-US" dirty="0"/>
              <a:t> — these are the values being written. You can see they change as we write to different registers.</a:t>
            </a:r>
          </a:p>
          <a:p>
            <a:r>
              <a:rPr lang="en-US" dirty="0"/>
              <a:t>Finally, </a:t>
            </a:r>
            <a:r>
              <a:rPr lang="en-US" sz="1200" kern="1200" dirty="0">
                <a:solidFill>
                  <a:schemeClr val="tx1"/>
                </a:solidFill>
                <a:latin typeface="+mn-lt"/>
                <a:ea typeface="+mn-ea"/>
                <a:cs typeface="+mn-cs"/>
              </a:rPr>
              <a:t>ReadReg1_TB</a:t>
            </a:r>
            <a:r>
              <a:rPr lang="en-US" dirty="0"/>
              <a:t> and </a:t>
            </a:r>
            <a:r>
              <a:rPr lang="en-US" sz="1200" kern="1200" dirty="0">
                <a:solidFill>
                  <a:schemeClr val="tx1"/>
                </a:solidFill>
                <a:latin typeface="+mn-lt"/>
                <a:ea typeface="+mn-ea"/>
                <a:cs typeface="+mn-cs"/>
              </a:rPr>
              <a:t>ReadReg2_TB</a:t>
            </a:r>
            <a:r>
              <a:rPr lang="en-US" dirty="0"/>
              <a:t> show reads happening around 100-120ns. The read data comes back correctly.</a:t>
            </a:r>
          </a:p>
          <a:p>
            <a:r>
              <a:rPr lang="en-US" dirty="0"/>
              <a:t>Why does this matter? Because when we issue two instructions simultaneously, they both need to read their operands at the same time. The dual-port read capability makes that possible."</a:t>
            </a:r>
          </a:p>
          <a:p>
            <a:endParaRPr lang="en-US" dirty="0"/>
          </a:p>
        </p:txBody>
      </p:sp>
      <p:sp>
        <p:nvSpPr>
          <p:cNvPr id="4" name="Slide Number Placeholder 3"/>
          <p:cNvSpPr>
            <a:spLocks noGrp="1"/>
          </p:cNvSpPr>
          <p:nvPr>
            <p:ph type="sldNum" sz="quarter" idx="5"/>
          </p:nvPr>
        </p:nvSpPr>
        <p:spPr/>
        <p:txBody>
          <a:bodyPr/>
          <a:lstStyle/>
          <a:p>
            <a:fld id="{FA051D29-8EA3-42D3-BB95-BE917086C5B1}" type="slidenum">
              <a:rPr lang="en-US" smtClean="0"/>
              <a:t>7</a:t>
            </a:fld>
            <a:endParaRPr lang="en-US"/>
          </a:p>
        </p:txBody>
      </p:sp>
    </p:spTree>
    <p:extLst>
      <p:ext uri="{BB962C8B-B14F-4D97-AF65-F5344CB8AC3E}">
        <p14:creationId xmlns:p14="http://schemas.microsoft.com/office/powerpoint/2010/main" val="39891713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RAT maps registers to in-flight ROB entries. This is register renaming. Now when instruction 1 writes x1, and instruction 3 also writes x1, there’s no conflict they get different ROB entries.</a:t>
            </a:r>
          </a:p>
          <a:p>
            <a:endParaRPr lang="en-US" dirty="0"/>
          </a:p>
          <a:p>
            <a:r>
              <a:rPr lang="en-US" dirty="0"/>
              <a:t>"This is the Register Alias Table — the RAT. The RAT is the key to register renaming.</a:t>
            </a:r>
          </a:p>
          <a:p>
            <a:r>
              <a:rPr lang="en-US" dirty="0"/>
              <a:t>Think of it like a mapping table. When an instruction writes to a register, the RAT says 'Okay, x1 is now being written by ROB entry 0011.' When another instruction writes to x1, the RAT updates: 'x1 is now being written by ROB entry 0101.' No conflict.</a:t>
            </a:r>
          </a:p>
          <a:p>
            <a:r>
              <a:rPr lang="en-US" dirty="0"/>
              <a:t>Look at </a:t>
            </a:r>
            <a:r>
              <a:rPr lang="en-US" sz="1200" kern="1200" dirty="0" err="1">
                <a:solidFill>
                  <a:schemeClr val="tx1"/>
                </a:solidFill>
                <a:latin typeface="+mn-lt"/>
                <a:ea typeface="+mn-ea"/>
                <a:cs typeface="+mn-cs"/>
              </a:rPr>
              <a:t>WriteRegister_TB</a:t>
            </a:r>
            <a:r>
              <a:rPr lang="en-US" sz="1200" kern="1200" dirty="0">
                <a:solidFill>
                  <a:schemeClr val="tx1"/>
                </a:solidFill>
                <a:latin typeface="+mn-lt"/>
                <a:ea typeface="+mn-ea"/>
                <a:cs typeface="+mn-cs"/>
              </a:rPr>
              <a:t>[4:0]</a:t>
            </a:r>
            <a:r>
              <a:rPr lang="en-US" dirty="0"/>
              <a:t> — that's the register being written (x0, x1, x2, etc.). Look at </a:t>
            </a:r>
            <a:r>
              <a:rPr lang="en-US" sz="1200" kern="1200" dirty="0" err="1">
                <a:solidFill>
                  <a:schemeClr val="tx1"/>
                </a:solidFill>
                <a:latin typeface="+mn-lt"/>
                <a:ea typeface="+mn-ea"/>
                <a:cs typeface="+mn-cs"/>
              </a:rPr>
              <a:t>WriteTag_TB</a:t>
            </a:r>
            <a:r>
              <a:rPr lang="en-US" sz="1200" kern="1200" dirty="0">
                <a:solidFill>
                  <a:schemeClr val="tx1"/>
                </a:solidFill>
                <a:latin typeface="+mn-lt"/>
                <a:ea typeface="+mn-ea"/>
                <a:cs typeface="+mn-cs"/>
              </a:rPr>
              <a:t>[3:0]</a:t>
            </a:r>
            <a:r>
              <a:rPr lang="en-US" dirty="0"/>
              <a:t> — that's the ROB entry number.</a:t>
            </a:r>
          </a:p>
          <a:p>
            <a:r>
              <a:rPr lang="en-US" dirty="0"/>
              <a:t>At 20ns, we write x1 with tag 0000. At 40ns, we write x1 again with tag 0001. The RAT tracks both. Now when instruction 1 reads x1, it gets ROB entry 0000. When instruction 2 reads x1, it gets ROB entry 0001. Different ROB entries, no conflict.</a:t>
            </a:r>
          </a:p>
          <a:p>
            <a:r>
              <a:rPr lang="en-US" dirty="0"/>
              <a:t>This is register renaming. It eliminates false data dependencies and lets instructions execute out of order without conflicts."</a:t>
            </a:r>
          </a:p>
          <a:p>
            <a:endParaRPr lang="en-US" dirty="0"/>
          </a:p>
        </p:txBody>
      </p:sp>
      <p:sp>
        <p:nvSpPr>
          <p:cNvPr id="4" name="Slide Number Placeholder 3"/>
          <p:cNvSpPr>
            <a:spLocks noGrp="1"/>
          </p:cNvSpPr>
          <p:nvPr>
            <p:ph type="sldNum" sz="quarter" idx="5"/>
          </p:nvPr>
        </p:nvSpPr>
        <p:spPr/>
        <p:txBody>
          <a:bodyPr/>
          <a:lstStyle/>
          <a:p>
            <a:fld id="{FA051D29-8EA3-42D3-BB95-BE917086C5B1}" type="slidenum">
              <a:rPr lang="en-US" smtClean="0"/>
              <a:t>8</a:t>
            </a:fld>
            <a:endParaRPr lang="en-US"/>
          </a:p>
        </p:txBody>
      </p:sp>
    </p:spTree>
    <p:extLst>
      <p:ext uri="{BB962C8B-B14F-4D97-AF65-F5344CB8AC3E}">
        <p14:creationId xmlns:p14="http://schemas.microsoft.com/office/powerpoint/2010/main" val="29660077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when out-of-order execution actually happens. The second instruction has to wait for an operand, but the third instruction doesn’t. The third can execute first. RS watches the CDB, and as soon as its operand appears its ready to go.</a:t>
            </a:r>
          </a:p>
          <a:p>
            <a:endParaRPr lang="en-US" dirty="0"/>
          </a:p>
          <a:p>
            <a:r>
              <a:rPr lang="en-US" dirty="0"/>
              <a:t>The Reservation Station is where instructions wait for their operands and where out-of-order execution happens.</a:t>
            </a:r>
          </a:p>
          <a:p>
            <a:r>
              <a:rPr lang="en-US" dirty="0"/>
              <a:t>Look at </a:t>
            </a:r>
            <a:r>
              <a:rPr lang="en-US" sz="1200" kern="1200" dirty="0" err="1">
                <a:solidFill>
                  <a:schemeClr val="tx1"/>
                </a:solidFill>
                <a:latin typeface="+mn-lt"/>
                <a:ea typeface="+mn-ea"/>
                <a:cs typeface="+mn-cs"/>
              </a:rPr>
              <a:t>issueTag_TB</a:t>
            </a:r>
            <a:r>
              <a:rPr lang="en-US" sz="1200" kern="1200" dirty="0">
                <a:solidFill>
                  <a:schemeClr val="tx1"/>
                </a:solidFill>
                <a:latin typeface="+mn-lt"/>
                <a:ea typeface="+mn-ea"/>
                <a:cs typeface="+mn-cs"/>
              </a:rPr>
              <a:t>[3:0]</a:t>
            </a:r>
            <a:r>
              <a:rPr lang="en-US" dirty="0"/>
              <a:t> — that's which instruction is being issued. You see tags 0000, 0001, 0010, 0011 — four different instructions.</a:t>
            </a:r>
          </a:p>
          <a:p>
            <a:r>
              <a:rPr lang="en-US" dirty="0"/>
              <a:t>Now look at </a:t>
            </a:r>
            <a:r>
              <a:rPr lang="en-US" sz="1200" kern="1200" dirty="0">
                <a:solidFill>
                  <a:schemeClr val="tx1"/>
                </a:solidFill>
                <a:latin typeface="+mn-lt"/>
                <a:ea typeface="+mn-ea"/>
                <a:cs typeface="+mn-cs"/>
              </a:rPr>
              <a:t>issueSrc1Val_TB</a:t>
            </a:r>
            <a:r>
              <a:rPr lang="en-US" dirty="0"/>
              <a:t> and </a:t>
            </a:r>
            <a:r>
              <a:rPr lang="en-US" sz="1200" kern="1200" dirty="0">
                <a:solidFill>
                  <a:schemeClr val="tx1"/>
                </a:solidFill>
                <a:latin typeface="+mn-lt"/>
                <a:ea typeface="+mn-ea"/>
                <a:cs typeface="+mn-cs"/>
              </a:rPr>
              <a:t>issueSrc2Val_TB</a:t>
            </a:r>
            <a:r>
              <a:rPr lang="en-US" dirty="0"/>
              <a:t> — these are the operand values. Some show actual values, some show zeros because the operands aren't ready yet.</a:t>
            </a:r>
          </a:p>
          <a:p>
            <a:r>
              <a:rPr lang="en-US" dirty="0"/>
              <a:t>Watch </a:t>
            </a:r>
            <a:r>
              <a:rPr lang="en-US" sz="1200" kern="1200" dirty="0" err="1">
                <a:solidFill>
                  <a:schemeClr val="tx1"/>
                </a:solidFill>
                <a:latin typeface="+mn-lt"/>
                <a:ea typeface="+mn-ea"/>
                <a:cs typeface="+mn-cs"/>
              </a:rPr>
              <a:t>cdbValid_TB</a:t>
            </a:r>
            <a:r>
              <a:rPr lang="en-US" dirty="0"/>
              <a:t> and </a:t>
            </a:r>
            <a:r>
              <a:rPr lang="en-US" sz="1200" kern="1200" dirty="0" err="1">
                <a:solidFill>
                  <a:schemeClr val="tx1"/>
                </a:solidFill>
                <a:latin typeface="+mn-lt"/>
                <a:ea typeface="+mn-ea"/>
                <a:cs typeface="+mn-cs"/>
              </a:rPr>
              <a:t>cdbTag_TB</a:t>
            </a:r>
            <a:r>
              <a:rPr lang="en-US" dirty="0"/>
              <a:t> — the CDB is broadcasting results. When a result appears on the CDB, the RS snoops it. Look at </a:t>
            </a:r>
            <a:r>
              <a:rPr lang="en-US" sz="1200" kern="1200" dirty="0">
                <a:solidFill>
                  <a:schemeClr val="tx1"/>
                </a:solidFill>
                <a:latin typeface="+mn-lt"/>
                <a:ea typeface="+mn-ea"/>
                <a:cs typeface="+mn-cs"/>
              </a:rPr>
              <a:t>executeSrc1Val_TB</a:t>
            </a:r>
            <a:r>
              <a:rPr lang="en-US" dirty="0"/>
              <a:t> and </a:t>
            </a:r>
            <a:r>
              <a:rPr lang="en-US" sz="1200" kern="1200" dirty="0">
                <a:solidFill>
                  <a:schemeClr val="tx1"/>
                </a:solidFill>
                <a:latin typeface="+mn-lt"/>
                <a:ea typeface="+mn-ea"/>
                <a:cs typeface="+mn-cs"/>
              </a:rPr>
              <a:t>executeSrc2Val_TB</a:t>
            </a:r>
            <a:r>
              <a:rPr lang="en-US" dirty="0"/>
              <a:t> — these start as zeros, but when the CDB broadcasts (around 100ns), they get filled in.</a:t>
            </a:r>
          </a:p>
          <a:p>
            <a:r>
              <a:rPr lang="en-US" dirty="0"/>
              <a:t>Finally, </a:t>
            </a:r>
            <a:r>
              <a:rPr lang="en-US" sz="1200" kern="1200" dirty="0" err="1">
                <a:solidFill>
                  <a:schemeClr val="tx1"/>
                </a:solidFill>
                <a:latin typeface="+mn-lt"/>
                <a:ea typeface="+mn-ea"/>
                <a:cs typeface="+mn-cs"/>
              </a:rPr>
              <a:t>executeReady_TB</a:t>
            </a:r>
            <a:r>
              <a:rPr lang="en-US" dirty="0"/>
              <a:t> goes high when both operands are ready. That's when the instruction can execute.</a:t>
            </a:r>
          </a:p>
          <a:p>
            <a:r>
              <a:rPr lang="en-US" dirty="0"/>
              <a:t>The magic here: instruction 1 might execute, then instruction 3 executes before instruction 2, because instruction 3's operands became ready first. </a:t>
            </a:r>
            <a:r>
              <a:rPr lang="en-US" b="1" dirty="0"/>
              <a:t>That's out-of-order execution.</a:t>
            </a:r>
            <a:r>
              <a:rPr lang="en-US" dirty="0"/>
              <a:t> The RS doesn't care about program order — it only cares about operand readiness</a:t>
            </a:r>
          </a:p>
          <a:p>
            <a:endParaRPr lang="en-US" dirty="0"/>
          </a:p>
        </p:txBody>
      </p:sp>
      <p:sp>
        <p:nvSpPr>
          <p:cNvPr id="4" name="Slide Number Placeholder 3"/>
          <p:cNvSpPr>
            <a:spLocks noGrp="1"/>
          </p:cNvSpPr>
          <p:nvPr>
            <p:ph type="sldNum" sz="quarter" idx="5"/>
          </p:nvPr>
        </p:nvSpPr>
        <p:spPr/>
        <p:txBody>
          <a:bodyPr/>
          <a:lstStyle/>
          <a:p>
            <a:fld id="{FA051D29-8EA3-42D3-BB95-BE917086C5B1}" type="slidenum">
              <a:rPr lang="en-US" smtClean="0"/>
              <a:t>9</a:t>
            </a:fld>
            <a:endParaRPr lang="en-US"/>
          </a:p>
        </p:txBody>
      </p:sp>
    </p:spTree>
    <p:extLst>
      <p:ext uri="{BB962C8B-B14F-4D97-AF65-F5344CB8AC3E}">
        <p14:creationId xmlns:p14="http://schemas.microsoft.com/office/powerpoint/2010/main" val="8150656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a:t>
            </a:r>
            <a:r>
              <a:rPr lang="en-US" dirty="0" err="1"/>
              <a:t>thugh</a:t>
            </a:r>
            <a:r>
              <a:rPr lang="en-US" dirty="0"/>
              <a:t> instructions might execute out of order, the ROB commits them in the original program order. This is the safety mechanism. The processor looks like it executed sequentially to the outside world.</a:t>
            </a:r>
          </a:p>
          <a:p>
            <a:endParaRPr lang="en-US" dirty="0"/>
          </a:p>
          <a:p>
            <a:r>
              <a:rPr lang="en-US" dirty="0"/>
              <a:t>This is the Reorder Buffer — the ROB. The ROB is the safety mechanism that makes out-of-order execution safe.</a:t>
            </a:r>
          </a:p>
          <a:p>
            <a:r>
              <a:rPr lang="en-US" dirty="0"/>
              <a:t>Look at </a:t>
            </a:r>
            <a:r>
              <a:rPr lang="en-US" sz="1200" kern="1200" dirty="0" err="1">
                <a:solidFill>
                  <a:schemeClr val="tx1"/>
                </a:solidFill>
                <a:latin typeface="+mn-lt"/>
                <a:ea typeface="+mn-ea"/>
                <a:cs typeface="+mn-cs"/>
              </a:rPr>
              <a:t>enqueueDestinationReg_TB</a:t>
            </a:r>
            <a:r>
              <a:rPr lang="en-US" sz="1200" kern="1200" dirty="0">
                <a:solidFill>
                  <a:schemeClr val="tx1"/>
                </a:solidFill>
                <a:latin typeface="+mn-lt"/>
                <a:ea typeface="+mn-ea"/>
                <a:cs typeface="+mn-cs"/>
              </a:rPr>
              <a:t>[4:0]</a:t>
            </a:r>
            <a:r>
              <a:rPr lang="en-US" dirty="0"/>
              <a:t> — different instructions writing to different registers (x1, x2, x3, x4, etc.). They enqueue into the ROB one by one.</a:t>
            </a:r>
          </a:p>
          <a:p>
            <a:r>
              <a:rPr lang="en-US" dirty="0"/>
              <a:t>Now look at </a:t>
            </a:r>
            <a:r>
              <a:rPr lang="en-US" sz="1200" kern="1200" dirty="0" err="1">
                <a:solidFill>
                  <a:schemeClr val="tx1"/>
                </a:solidFill>
                <a:latin typeface="+mn-lt"/>
                <a:ea typeface="+mn-ea"/>
                <a:cs typeface="+mn-cs"/>
              </a:rPr>
              <a:t>cdbValid_TB</a:t>
            </a:r>
            <a:r>
              <a:rPr lang="en-US" dirty="0"/>
              <a:t> and </a:t>
            </a:r>
            <a:r>
              <a:rPr lang="en-US" sz="1200" kern="1200" dirty="0" err="1">
                <a:solidFill>
                  <a:schemeClr val="tx1"/>
                </a:solidFill>
                <a:latin typeface="+mn-lt"/>
                <a:ea typeface="+mn-ea"/>
                <a:cs typeface="+mn-cs"/>
              </a:rPr>
              <a:t>cdbTag_TB</a:t>
            </a:r>
            <a:r>
              <a:rPr lang="en-US" dirty="0"/>
              <a:t> — when the CDB broadcasts a result, it includes a tag that says 'This result is for ROB entry 0001.' The ROB marks that entry done.</a:t>
            </a:r>
          </a:p>
          <a:p>
            <a:r>
              <a:rPr lang="en-US" dirty="0"/>
              <a:t>Here's the key: look at </a:t>
            </a:r>
            <a:r>
              <a:rPr lang="en-US" sz="1200" kern="1200" dirty="0" err="1">
                <a:solidFill>
                  <a:schemeClr val="tx1"/>
                </a:solidFill>
                <a:latin typeface="+mn-lt"/>
                <a:ea typeface="+mn-ea"/>
                <a:cs typeface="+mn-cs"/>
              </a:rPr>
              <a:t>commitDestinationReg_TB</a:t>
            </a:r>
            <a:r>
              <a:rPr lang="en-US" sz="1200" kern="1200" dirty="0">
                <a:solidFill>
                  <a:schemeClr val="tx1"/>
                </a:solidFill>
                <a:latin typeface="+mn-lt"/>
                <a:ea typeface="+mn-ea"/>
                <a:cs typeface="+mn-cs"/>
              </a:rPr>
              <a:t>[4:0]</a:t>
            </a:r>
            <a:r>
              <a:rPr lang="en-US" dirty="0"/>
              <a:t> and </a:t>
            </a:r>
            <a:r>
              <a:rPr lang="en-US" sz="1200" kern="1200" dirty="0" err="1">
                <a:solidFill>
                  <a:schemeClr val="tx1"/>
                </a:solidFill>
                <a:latin typeface="+mn-lt"/>
                <a:ea typeface="+mn-ea"/>
                <a:cs typeface="+mn-cs"/>
              </a:rPr>
              <a:t>commitResult_TB</a:t>
            </a:r>
            <a:r>
              <a:rPr lang="en-US" sz="1200" kern="1200" dirty="0">
                <a:solidFill>
                  <a:schemeClr val="tx1"/>
                </a:solidFill>
                <a:latin typeface="+mn-lt"/>
                <a:ea typeface="+mn-ea"/>
                <a:cs typeface="+mn-cs"/>
              </a:rPr>
              <a:t>[31:0]</a:t>
            </a:r>
            <a:r>
              <a:rPr lang="en-US" dirty="0"/>
              <a:t>. </a:t>
            </a:r>
            <a:r>
              <a:rPr lang="en-US" sz="1200" kern="1200" dirty="0" err="1">
                <a:solidFill>
                  <a:schemeClr val="tx1"/>
                </a:solidFill>
                <a:latin typeface="+mn-lt"/>
                <a:ea typeface="+mn-ea"/>
                <a:cs typeface="+mn-cs"/>
              </a:rPr>
              <a:t>commitEnable_TB</a:t>
            </a:r>
            <a:r>
              <a:rPr lang="en-US" dirty="0"/>
              <a:t> goes high in sequence: at one time, instruction to x1 commits. Then instruction to x2. Then instruction to x3. </a:t>
            </a:r>
            <a:r>
              <a:rPr lang="en-US" b="1" dirty="0"/>
              <a:t>In program order.</a:t>
            </a:r>
            <a:endParaRPr lang="en-US" dirty="0"/>
          </a:p>
          <a:p>
            <a:r>
              <a:rPr lang="en-US" dirty="0"/>
              <a:t>Even though the instructions might have executed out of order (CDB broadcasts happening at different times), the ROB makes sure they commit in order. Instruction 1 commits first, then instruction 2, then instruction 3.</a:t>
            </a:r>
          </a:p>
          <a:p>
            <a:r>
              <a:rPr lang="en-US" dirty="0"/>
              <a:t>This is why it's safe to go out-of-order. The ROB ensures the processor behaves as if instructions executed sequentially. </a:t>
            </a:r>
            <a:r>
              <a:rPr lang="en-US"/>
              <a:t>To the outside world, everything looks correct.</a:t>
            </a:r>
          </a:p>
          <a:p>
            <a:endParaRPr lang="en-US" dirty="0"/>
          </a:p>
        </p:txBody>
      </p:sp>
      <p:sp>
        <p:nvSpPr>
          <p:cNvPr id="4" name="Slide Number Placeholder 3"/>
          <p:cNvSpPr>
            <a:spLocks noGrp="1"/>
          </p:cNvSpPr>
          <p:nvPr>
            <p:ph type="sldNum" sz="quarter" idx="5"/>
          </p:nvPr>
        </p:nvSpPr>
        <p:spPr/>
        <p:txBody>
          <a:bodyPr/>
          <a:lstStyle/>
          <a:p>
            <a:fld id="{FA051D29-8EA3-42D3-BB95-BE917086C5B1}" type="slidenum">
              <a:rPr lang="en-US" smtClean="0"/>
              <a:t>10</a:t>
            </a:fld>
            <a:endParaRPr lang="en-US"/>
          </a:p>
        </p:txBody>
      </p:sp>
    </p:spTree>
    <p:extLst>
      <p:ext uri="{BB962C8B-B14F-4D97-AF65-F5344CB8AC3E}">
        <p14:creationId xmlns:p14="http://schemas.microsoft.com/office/powerpoint/2010/main" val="7485768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complete pipeline executing three instructions: ADDI, LW, and ADD. Let me walk you through what's happening.</a:t>
            </a:r>
          </a:p>
          <a:p>
            <a:r>
              <a:rPr lang="en-US" dirty="0"/>
              <a:t>First, look at </a:t>
            </a:r>
            <a:r>
              <a:rPr lang="en-US" sz="1200" kern="1200" dirty="0" err="1">
                <a:solidFill>
                  <a:schemeClr val="tx1"/>
                </a:solidFill>
                <a:latin typeface="+mn-lt"/>
                <a:ea typeface="+mn-ea"/>
                <a:cs typeface="+mn-cs"/>
              </a:rPr>
              <a:t>instructionInput_TB</a:t>
            </a:r>
            <a:r>
              <a:rPr lang="en-US" dirty="0"/>
              <a:t> — you see three different instruction values being fed in at different times. That's ADDI, then LW, then ADD.</a:t>
            </a:r>
          </a:p>
          <a:p>
            <a:r>
              <a:rPr lang="en-US" dirty="0"/>
              <a:t>Now watch the key signals: </a:t>
            </a:r>
            <a:r>
              <a:rPr lang="en-US" sz="1200" kern="1200" dirty="0" err="1">
                <a:solidFill>
                  <a:schemeClr val="tx1"/>
                </a:solidFill>
                <a:latin typeface="+mn-lt"/>
                <a:ea typeface="+mn-ea"/>
                <a:cs typeface="+mn-cs"/>
              </a:rPr>
              <a:t>cdbValid</a:t>
            </a:r>
            <a:r>
              <a:rPr lang="en-US" dirty="0"/>
              <a:t> and </a:t>
            </a:r>
            <a:r>
              <a:rPr lang="en-US" sz="1200" kern="1200" dirty="0" err="1">
                <a:solidFill>
                  <a:schemeClr val="tx1"/>
                </a:solidFill>
                <a:latin typeface="+mn-lt"/>
                <a:ea typeface="+mn-ea"/>
                <a:cs typeface="+mn-cs"/>
              </a:rPr>
              <a:t>cdbTag</a:t>
            </a:r>
            <a:r>
              <a:rPr lang="en-US" dirty="0"/>
              <a:t>. Notice that </a:t>
            </a:r>
            <a:r>
              <a:rPr lang="en-US" sz="1200" kern="1200" dirty="0" err="1">
                <a:solidFill>
                  <a:schemeClr val="tx1"/>
                </a:solidFill>
                <a:latin typeface="+mn-lt"/>
                <a:ea typeface="+mn-ea"/>
                <a:cs typeface="+mn-cs"/>
              </a:rPr>
              <a:t>cdbValid</a:t>
            </a:r>
            <a:r>
              <a:rPr lang="en-US" dirty="0"/>
              <a:t> pulses (goes high) at </a:t>
            </a:r>
            <a:r>
              <a:rPr lang="en-US" b="1" dirty="0"/>
              <a:t>different times</a:t>
            </a:r>
            <a:r>
              <a:rPr lang="en-US" dirty="0"/>
              <a:t> — around 80ns, then 120ns, then 180ns. That means different instructions are finishing execution at different times. </a:t>
            </a:r>
            <a:r>
              <a:rPr lang="en-US" b="1" dirty="0"/>
              <a:t>That's out-of-order execution.</a:t>
            </a:r>
            <a:endParaRPr lang="en-US" dirty="0"/>
          </a:p>
          <a:p>
            <a:r>
              <a:rPr lang="en-US" dirty="0"/>
              <a:t>But here's the magic: look at </a:t>
            </a:r>
            <a:r>
              <a:rPr lang="en-US" sz="1200" kern="1200" dirty="0" err="1">
                <a:solidFill>
                  <a:schemeClr val="tx1"/>
                </a:solidFill>
                <a:latin typeface="+mn-lt"/>
                <a:ea typeface="+mn-ea"/>
                <a:cs typeface="+mn-cs"/>
              </a:rPr>
              <a:t>commitEnable</a:t>
            </a:r>
            <a:r>
              <a:rPr lang="en-US" dirty="0"/>
              <a:t> — it pulses </a:t>
            </a:r>
            <a:r>
              <a:rPr lang="en-US" b="1" dirty="0"/>
              <a:t>sequentially</a:t>
            </a:r>
            <a:r>
              <a:rPr lang="en-US" dirty="0"/>
              <a:t>. One pulse, then the next, then the next. And </a:t>
            </a:r>
            <a:r>
              <a:rPr lang="en-US" sz="1200" kern="1200" dirty="0" err="1">
                <a:solidFill>
                  <a:schemeClr val="tx1"/>
                </a:solidFill>
                <a:latin typeface="+mn-lt"/>
                <a:ea typeface="+mn-ea"/>
                <a:cs typeface="+mn-cs"/>
              </a:rPr>
              <a:t>cdbTag</a:t>
            </a:r>
            <a:r>
              <a:rPr lang="en-US" dirty="0"/>
              <a:t> shows the sequence: 0000, then 0100, then 0000. The instructions commit in program order, even though they executed out of order.</a:t>
            </a:r>
          </a:p>
          <a:p>
            <a:r>
              <a:rPr lang="en-US" dirty="0"/>
              <a:t>This is Tomasulo's Algorithm working. Instructions execute whenever their operands are ready, not in program order. But they commit to the register file in program order, maintaining correctness. That's why it's safe, and that's why it's fast."</a:t>
            </a:r>
          </a:p>
          <a:p>
            <a:endParaRPr lang="en-US" dirty="0"/>
          </a:p>
        </p:txBody>
      </p:sp>
      <p:sp>
        <p:nvSpPr>
          <p:cNvPr id="4" name="Slide Number Placeholder 3"/>
          <p:cNvSpPr>
            <a:spLocks noGrp="1"/>
          </p:cNvSpPr>
          <p:nvPr>
            <p:ph type="sldNum" sz="quarter" idx="5"/>
          </p:nvPr>
        </p:nvSpPr>
        <p:spPr/>
        <p:txBody>
          <a:bodyPr/>
          <a:lstStyle/>
          <a:p>
            <a:fld id="{FA051D29-8EA3-42D3-BB95-BE917086C5B1}" type="slidenum">
              <a:rPr lang="en-US" smtClean="0"/>
              <a:t>11</a:t>
            </a:fld>
            <a:endParaRPr lang="en-US"/>
          </a:p>
        </p:txBody>
      </p:sp>
    </p:spTree>
    <p:extLst>
      <p:ext uri="{BB962C8B-B14F-4D97-AF65-F5344CB8AC3E}">
        <p14:creationId xmlns:p14="http://schemas.microsoft.com/office/powerpoint/2010/main" val="32955599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051D29-8EA3-42D3-BB95-BE917086C5B1}" type="slidenum">
              <a:rPr lang="en-US" smtClean="0"/>
              <a:t>12</a:t>
            </a:fld>
            <a:endParaRPr lang="en-US"/>
          </a:p>
        </p:txBody>
      </p:sp>
    </p:spTree>
    <p:extLst>
      <p:ext uri="{BB962C8B-B14F-4D97-AF65-F5344CB8AC3E}">
        <p14:creationId xmlns:p14="http://schemas.microsoft.com/office/powerpoint/2010/main" val="33925708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3CA67B82-C4A5-4D0B-88B1-A5AE5A8149E2}" type="datetime1">
              <a:rPr lang="en-US" smtClean="0"/>
              <a:t>5/6/2026</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D860822F-C685-4CBB-BA0A-59681D748C9B}" type="datetime1">
              <a:rPr lang="en-US" smtClean="0"/>
              <a:t>5/6/2026</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4C099200-CAA2-42FE-8E0C-629199D79E82}" type="datetime1">
              <a:rPr lang="en-US" smtClean="0"/>
              <a:t>5/6/2026</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978383-6361-4681-94CB-B05E3F778AB1}" type="datetime1">
              <a:rPr lang="en-US" smtClean="0"/>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DE1880E-89C0-4264-907F-B84184ED5451}" type="datetime1">
              <a:rPr lang="en-US" smtClean="0"/>
              <a:t>5/6/2026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246E03B-5F90-479F-A0F3-8FD67B69A49E}" type="datetime1">
              <a:rPr lang="en-US" smtClean="0"/>
              <a:t>5/6/2026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AC49BA-6CDE-425C-BCD1-FCA14747487A}" type="datetime1">
              <a:rPr lang="en-US" smtClean="0"/>
              <a:t>5/6/2026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ECCF5CE3-DEB2-4211-92A1-FF6473EE2E64}" type="datetime1">
              <a:rPr lang="en-US" smtClean="0"/>
              <a:t>5/6/2026</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D80BB91-7165-49BB-AAE1-BA6B622F620F}" type="datetime1">
              <a:rPr lang="en-US" smtClean="0"/>
              <a:t>5/6/2026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69A706-2ED0-4A80-BB08-949A53B00FD1}" type="datetime1">
              <a:rPr lang="en-US" smtClean="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479DDB92-2E6C-4FBF-9F28-B3258F4C0E9E}" type="datetime1">
              <a:rPr lang="en-US" smtClean="0"/>
              <a:t>5/6/2026</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01ED0F8D-6559-484E-AA4A-61BC93126D2D}" type="datetime1">
              <a:rPr lang="en-US" smtClean="0"/>
              <a:t>5/6/2026</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Antwann03/RISC-V-OOO-Processor-with-Tomasulos-Algorithm"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581188" y="756404"/>
            <a:ext cx="10993549" cy="1214520"/>
          </a:xfrm>
        </p:spPr>
        <p:txBody>
          <a:bodyPr>
            <a:normAutofit/>
          </a:bodyPr>
          <a:lstStyle/>
          <a:p>
            <a:r>
              <a:rPr lang="en-US" dirty="0"/>
              <a:t>RISC-V Out-Of-Order Processor with Tomasulo’s Algorithm</a:t>
            </a:r>
          </a:p>
        </p:txBody>
      </p:sp>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581191" y="2175131"/>
            <a:ext cx="10993546" cy="608609"/>
          </a:xfrm>
        </p:spPr>
        <p:txBody>
          <a:bodyPr>
            <a:noAutofit/>
          </a:bodyPr>
          <a:lstStyle/>
          <a:p>
            <a:r>
              <a:rPr lang="en-US" sz="1200" dirty="0"/>
              <a:t>By: Antonio Anzora Jr</a:t>
            </a:r>
          </a:p>
          <a:p>
            <a:r>
              <a:rPr lang="en-US" sz="1200" dirty="0"/>
              <a:t>ECE 622 – Digital Systems Structure</a:t>
            </a:r>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pic>
        <p:nvPicPr>
          <p:cNvPr id="6" name="Picture 5" descr="abstract image">
            <a:extLst>
              <a:ext uri="{FF2B5EF4-FFF2-40B4-BE49-F238E27FC236}">
                <a16:creationId xmlns:a16="http://schemas.microsoft.com/office/drawing/2014/main" id="{F1A8C364-94D4-4630-BAD0-78722F347055}"/>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448733" y="3081867"/>
            <a:ext cx="11260667" cy="3310466"/>
          </a:xfrm>
          <a:prstGeom prst="rect">
            <a:avLst/>
          </a:prstGeom>
        </p:spPr>
      </p:pic>
      <p:sp>
        <p:nvSpPr>
          <p:cNvPr id="4" name="Slide Number Placeholder 3">
            <a:extLst>
              <a:ext uri="{FF2B5EF4-FFF2-40B4-BE49-F238E27FC236}">
                <a16:creationId xmlns:a16="http://schemas.microsoft.com/office/drawing/2014/main" id="{509C817A-5199-694B-7052-9B1C408A1C00}"/>
              </a:ext>
            </a:extLst>
          </p:cNvPr>
          <p:cNvSpPr>
            <a:spLocks noGrp="1"/>
          </p:cNvSpPr>
          <p:nvPr>
            <p:ph type="sldNum" sz="quarter" idx="12"/>
          </p:nvPr>
        </p:nvSpPr>
        <p:spPr/>
        <p:txBody>
          <a:bodyPr/>
          <a:lstStyle/>
          <a:p>
            <a:fld id="{3A98EE3D-8CD1-4C3F-BD1C-C98C9596463C}" type="slidenum">
              <a:rPr lang="en-US" smtClean="0"/>
              <a:t>1</a:t>
            </a:fld>
            <a:endParaRPr lang="en-US" dirty="0"/>
          </a:p>
        </p:txBody>
      </p:sp>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0F400-94F7-E222-E490-4A915AA78300}"/>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ACCD2DCA-6B1C-0E06-F33B-20978CDDE251}"/>
              </a:ext>
            </a:extLst>
          </p:cNvPr>
          <p:cNvSpPr>
            <a:spLocks noGrp="1"/>
          </p:cNvSpPr>
          <p:nvPr>
            <p:ph idx="1"/>
          </p:nvPr>
        </p:nvSpPr>
        <p:spPr/>
        <p:txBody>
          <a:bodyPr/>
          <a:lstStyle/>
          <a:p>
            <a:r>
              <a:rPr lang="en-US" dirty="0"/>
              <a:t>Motivation</a:t>
            </a:r>
          </a:p>
          <a:p>
            <a:r>
              <a:rPr lang="en-US" dirty="0"/>
              <a:t>Tomasulo’s Algorithm Overview</a:t>
            </a:r>
          </a:p>
          <a:p>
            <a:r>
              <a:rPr lang="en-US" dirty="0"/>
              <a:t>System Architecture &amp; Key Components</a:t>
            </a:r>
          </a:p>
          <a:p>
            <a:r>
              <a:rPr lang="en-US" dirty="0"/>
              <a:t>Simulation Results</a:t>
            </a:r>
          </a:p>
        </p:txBody>
      </p:sp>
      <p:sp>
        <p:nvSpPr>
          <p:cNvPr id="4" name="Slide Number Placeholder 3">
            <a:extLst>
              <a:ext uri="{FF2B5EF4-FFF2-40B4-BE49-F238E27FC236}">
                <a16:creationId xmlns:a16="http://schemas.microsoft.com/office/drawing/2014/main" id="{1C440142-F366-8A92-BE00-92A76EBC9B59}"/>
              </a:ext>
            </a:extLst>
          </p:cNvPr>
          <p:cNvSpPr>
            <a:spLocks noGrp="1"/>
          </p:cNvSpPr>
          <p:nvPr>
            <p:ph type="sldNum" sz="quarter" idx="12"/>
          </p:nvPr>
        </p:nvSpPr>
        <p:spPr/>
        <p:txBody>
          <a:bodyPr/>
          <a:lstStyle/>
          <a:p>
            <a:fld id="{3A98EE3D-8CD1-4C3F-BD1C-C98C9596463C}" type="slidenum">
              <a:rPr lang="en-US" smtClean="0"/>
              <a:t>2</a:t>
            </a:fld>
            <a:endParaRPr lang="en-US" dirty="0"/>
          </a:p>
        </p:txBody>
      </p:sp>
    </p:spTree>
    <p:extLst>
      <p:ext uri="{BB962C8B-B14F-4D97-AF65-F5344CB8AC3E}">
        <p14:creationId xmlns:p14="http://schemas.microsoft.com/office/powerpoint/2010/main" val="4289888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CC7B1-6328-C2FD-F82F-F5AF628C2A9E}"/>
              </a:ext>
            </a:extLst>
          </p:cNvPr>
          <p:cNvSpPr>
            <a:spLocks noGrp="1"/>
          </p:cNvSpPr>
          <p:nvPr>
            <p:ph type="title"/>
          </p:nvPr>
        </p:nvSpPr>
        <p:spPr/>
        <p:txBody>
          <a:bodyPr/>
          <a:lstStyle/>
          <a:p>
            <a:r>
              <a:rPr lang="en-US" dirty="0"/>
              <a:t>Motivation – Why out of order?</a:t>
            </a:r>
          </a:p>
        </p:txBody>
      </p:sp>
      <p:sp>
        <p:nvSpPr>
          <p:cNvPr id="3" name="Content Placeholder 2">
            <a:extLst>
              <a:ext uri="{FF2B5EF4-FFF2-40B4-BE49-F238E27FC236}">
                <a16:creationId xmlns:a16="http://schemas.microsoft.com/office/drawing/2014/main" id="{72B7D73D-08B9-93EE-6CAB-3D4D574786D6}"/>
              </a:ext>
            </a:extLst>
          </p:cNvPr>
          <p:cNvSpPr>
            <a:spLocks noGrp="1"/>
          </p:cNvSpPr>
          <p:nvPr>
            <p:ph idx="1"/>
          </p:nvPr>
        </p:nvSpPr>
        <p:spPr/>
        <p:txBody>
          <a:bodyPr/>
          <a:lstStyle/>
          <a:p>
            <a:r>
              <a:rPr lang="en-US" dirty="0"/>
              <a:t>In-order execution wastes cycles waiting for dependencies</a:t>
            </a:r>
          </a:p>
          <a:p>
            <a:r>
              <a:rPr lang="en-US" dirty="0"/>
              <a:t>Modern CPUs execute 3-4 instructions per cycle</a:t>
            </a:r>
          </a:p>
          <a:p>
            <a:r>
              <a:rPr lang="en-US" dirty="0"/>
              <a:t>Out-of-order allows instructions to execute based on data availability</a:t>
            </a:r>
          </a:p>
          <a:p>
            <a:r>
              <a:rPr lang="en-US" dirty="0"/>
              <a:t>Reduces cycle time compared to in-order approaches</a:t>
            </a:r>
          </a:p>
          <a:p>
            <a:pPr marL="0" indent="0">
              <a:buNone/>
            </a:pPr>
            <a:endParaRPr lang="en-US" dirty="0"/>
          </a:p>
        </p:txBody>
      </p:sp>
      <p:sp>
        <p:nvSpPr>
          <p:cNvPr id="4" name="Slide Number Placeholder 3">
            <a:extLst>
              <a:ext uri="{FF2B5EF4-FFF2-40B4-BE49-F238E27FC236}">
                <a16:creationId xmlns:a16="http://schemas.microsoft.com/office/drawing/2014/main" id="{8E74F189-B678-8E30-0D12-37CE905B86CD}"/>
              </a:ext>
            </a:extLst>
          </p:cNvPr>
          <p:cNvSpPr>
            <a:spLocks noGrp="1"/>
          </p:cNvSpPr>
          <p:nvPr>
            <p:ph type="sldNum" sz="quarter" idx="12"/>
          </p:nvPr>
        </p:nvSpPr>
        <p:spPr/>
        <p:txBody>
          <a:bodyPr/>
          <a:lstStyle/>
          <a:p>
            <a:fld id="{3A98EE3D-8CD1-4C3F-BD1C-C98C9596463C}" type="slidenum">
              <a:rPr lang="en-US" smtClean="0"/>
              <a:t>3</a:t>
            </a:fld>
            <a:endParaRPr lang="en-US" dirty="0"/>
          </a:p>
        </p:txBody>
      </p:sp>
    </p:spTree>
    <p:extLst>
      <p:ext uri="{BB962C8B-B14F-4D97-AF65-F5344CB8AC3E}">
        <p14:creationId xmlns:p14="http://schemas.microsoft.com/office/powerpoint/2010/main" val="2832139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ACAF9-C6CA-9610-6CA6-9187446A3DED}"/>
              </a:ext>
            </a:extLst>
          </p:cNvPr>
          <p:cNvSpPr>
            <a:spLocks noGrp="1"/>
          </p:cNvSpPr>
          <p:nvPr>
            <p:ph type="title"/>
          </p:nvPr>
        </p:nvSpPr>
        <p:spPr/>
        <p:txBody>
          <a:bodyPr/>
          <a:lstStyle/>
          <a:p>
            <a:r>
              <a:rPr lang="en-US" dirty="0"/>
              <a:t>Tomasulo’s Algorithm Overview</a:t>
            </a:r>
          </a:p>
        </p:txBody>
      </p:sp>
      <p:sp>
        <p:nvSpPr>
          <p:cNvPr id="3" name="Content Placeholder 2">
            <a:extLst>
              <a:ext uri="{FF2B5EF4-FFF2-40B4-BE49-F238E27FC236}">
                <a16:creationId xmlns:a16="http://schemas.microsoft.com/office/drawing/2014/main" id="{1BD849DA-24C4-1B91-CA09-D81A008FEC3E}"/>
              </a:ext>
            </a:extLst>
          </p:cNvPr>
          <p:cNvSpPr>
            <a:spLocks noGrp="1"/>
          </p:cNvSpPr>
          <p:nvPr>
            <p:ph idx="1"/>
          </p:nvPr>
        </p:nvSpPr>
        <p:spPr/>
        <p:txBody>
          <a:bodyPr>
            <a:normAutofit fontScale="92500" lnSpcReduction="10000"/>
          </a:bodyPr>
          <a:lstStyle/>
          <a:p>
            <a:pPr marL="0" indent="0">
              <a:buNone/>
            </a:pPr>
            <a:r>
              <a:rPr lang="en-US" dirty="0"/>
              <a:t>Tomasulo’s Algorithm: Three stages</a:t>
            </a:r>
          </a:p>
          <a:p>
            <a:pPr marL="342900" indent="-342900">
              <a:buFont typeface="+mj-lt"/>
              <a:buAutoNum type="arabicPeriod"/>
            </a:pPr>
            <a:r>
              <a:rPr lang="en-US" dirty="0"/>
              <a:t>Issue: Instructions fetched are issued to Reservation Stations (RS)</a:t>
            </a:r>
          </a:p>
          <a:p>
            <a:pPr marL="666900" lvl="1" indent="-342900">
              <a:buFont typeface="+mj-lt"/>
              <a:buAutoNum type="arabicPeriod"/>
            </a:pPr>
            <a:r>
              <a:rPr lang="en-US" dirty="0"/>
              <a:t>If operands ready </a:t>
            </a:r>
            <a:r>
              <a:rPr lang="en-US" dirty="0">
                <a:sym typeface="Wingdings" panose="05000000000000000000" pitchFamily="2" charset="2"/>
              </a:rPr>
              <a:t> Issue immediately</a:t>
            </a:r>
            <a:endParaRPr lang="en-US" dirty="0"/>
          </a:p>
          <a:p>
            <a:pPr marL="666900" lvl="1" indent="-342900">
              <a:buFont typeface="+mj-lt"/>
              <a:buAutoNum type="arabicPeriod"/>
            </a:pPr>
            <a:r>
              <a:rPr lang="en-US" dirty="0"/>
              <a:t>If operands not ready </a:t>
            </a:r>
            <a:r>
              <a:rPr lang="en-US" dirty="0">
                <a:sym typeface="Wingdings" panose="05000000000000000000" pitchFamily="2" charset="2"/>
              </a:rPr>
              <a:t> stall and wait for CDB</a:t>
            </a:r>
            <a:endParaRPr lang="en-US" dirty="0"/>
          </a:p>
          <a:p>
            <a:pPr marL="342900" indent="-342900">
              <a:buFont typeface="+mj-lt"/>
              <a:buAutoNum type="arabicPeriod"/>
            </a:pPr>
            <a:r>
              <a:rPr lang="en-US" dirty="0"/>
              <a:t>Execute: When all operands available, instruction executes</a:t>
            </a:r>
          </a:p>
          <a:p>
            <a:pPr marL="666900" lvl="1" indent="-342900">
              <a:buFont typeface="+mj-lt"/>
              <a:buAutoNum type="arabicPeriod"/>
            </a:pPr>
            <a:r>
              <a:rPr lang="en-US" dirty="0"/>
              <a:t>Reservation Stations snoop CDB for missing operands</a:t>
            </a:r>
          </a:p>
          <a:p>
            <a:pPr marL="666900" lvl="1" indent="-342900">
              <a:buFont typeface="+mj-lt"/>
              <a:buAutoNum type="arabicPeriod"/>
            </a:pPr>
            <a:r>
              <a:rPr lang="en-US" dirty="0"/>
              <a:t>When both operands ready, send to functional unit</a:t>
            </a:r>
          </a:p>
          <a:p>
            <a:pPr marL="342900" indent="-342900">
              <a:buFont typeface="+mj-lt"/>
              <a:buAutoNum type="arabicPeriod"/>
            </a:pPr>
            <a:r>
              <a:rPr lang="en-US" dirty="0"/>
              <a:t>Write Result: Broadcast on CDB</a:t>
            </a:r>
          </a:p>
          <a:p>
            <a:pPr marL="666900" lvl="1" indent="-342900">
              <a:buFont typeface="+mj-lt"/>
              <a:buAutoNum type="arabicPeriod"/>
            </a:pPr>
            <a:r>
              <a:rPr lang="en-US" dirty="0"/>
              <a:t>All RS listen for their operands</a:t>
            </a:r>
          </a:p>
          <a:p>
            <a:pPr marL="666900" lvl="1" indent="-342900">
              <a:buFont typeface="+mj-lt"/>
              <a:buAutoNum type="arabicPeriod"/>
            </a:pPr>
            <a:r>
              <a:rPr lang="en-US" dirty="0"/>
              <a:t>ROB marks instruction done</a:t>
            </a:r>
          </a:p>
          <a:p>
            <a:pPr marL="666900" lvl="1" indent="-342900">
              <a:buFont typeface="+mj-lt"/>
              <a:buAutoNum type="arabicPeriod"/>
            </a:pPr>
            <a:r>
              <a:rPr lang="en-US" dirty="0"/>
              <a:t>Instruction commits in order</a:t>
            </a:r>
          </a:p>
        </p:txBody>
      </p:sp>
      <p:sp>
        <p:nvSpPr>
          <p:cNvPr id="4" name="Slide Number Placeholder 3">
            <a:extLst>
              <a:ext uri="{FF2B5EF4-FFF2-40B4-BE49-F238E27FC236}">
                <a16:creationId xmlns:a16="http://schemas.microsoft.com/office/drawing/2014/main" id="{3A9F55D6-9494-F287-5250-06C6AB149E34}"/>
              </a:ext>
            </a:extLst>
          </p:cNvPr>
          <p:cNvSpPr>
            <a:spLocks noGrp="1"/>
          </p:cNvSpPr>
          <p:nvPr>
            <p:ph type="sldNum" sz="quarter" idx="12"/>
          </p:nvPr>
        </p:nvSpPr>
        <p:spPr/>
        <p:txBody>
          <a:bodyPr/>
          <a:lstStyle/>
          <a:p>
            <a:fld id="{3A98EE3D-8CD1-4C3F-BD1C-C98C9596463C}" type="slidenum">
              <a:rPr lang="en-US" smtClean="0"/>
              <a:t>4</a:t>
            </a:fld>
            <a:endParaRPr lang="en-US" dirty="0"/>
          </a:p>
        </p:txBody>
      </p:sp>
    </p:spTree>
    <p:extLst>
      <p:ext uri="{BB962C8B-B14F-4D97-AF65-F5344CB8AC3E}">
        <p14:creationId xmlns:p14="http://schemas.microsoft.com/office/powerpoint/2010/main" val="6894832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F6134-102D-9AA8-8716-549FBDA7F2CB}"/>
              </a:ext>
            </a:extLst>
          </p:cNvPr>
          <p:cNvSpPr>
            <a:spLocks noGrp="1"/>
          </p:cNvSpPr>
          <p:nvPr>
            <p:ph type="title"/>
          </p:nvPr>
        </p:nvSpPr>
        <p:spPr/>
        <p:txBody>
          <a:bodyPr/>
          <a:lstStyle/>
          <a:p>
            <a:r>
              <a:rPr lang="en-US" dirty="0"/>
              <a:t>System Architecture/Block Diagram</a:t>
            </a:r>
          </a:p>
        </p:txBody>
      </p:sp>
      <p:pic>
        <p:nvPicPr>
          <p:cNvPr id="6" name="Content Placeholder 5">
            <a:extLst>
              <a:ext uri="{FF2B5EF4-FFF2-40B4-BE49-F238E27FC236}">
                <a16:creationId xmlns:a16="http://schemas.microsoft.com/office/drawing/2014/main" id="{85E2FAE7-501B-BE76-A480-5F658BCA2EF6}"/>
              </a:ext>
            </a:extLst>
          </p:cNvPr>
          <p:cNvPicPr>
            <a:picLocks noGrp="1" noChangeAspect="1"/>
          </p:cNvPicPr>
          <p:nvPr>
            <p:ph idx="1"/>
          </p:nvPr>
        </p:nvPicPr>
        <p:blipFill>
          <a:blip r:embed="rId3"/>
          <a:stretch>
            <a:fillRect/>
          </a:stretch>
        </p:blipFill>
        <p:spPr>
          <a:xfrm>
            <a:off x="532075" y="2362139"/>
            <a:ext cx="11127850" cy="3593166"/>
          </a:xfrm>
          <a:prstGeom prst="rect">
            <a:avLst/>
          </a:prstGeom>
        </p:spPr>
      </p:pic>
      <p:sp>
        <p:nvSpPr>
          <p:cNvPr id="4" name="Slide Number Placeholder 3">
            <a:extLst>
              <a:ext uri="{FF2B5EF4-FFF2-40B4-BE49-F238E27FC236}">
                <a16:creationId xmlns:a16="http://schemas.microsoft.com/office/drawing/2014/main" id="{BF7B6752-F77A-EA72-77AD-9EFC02E4D20A}"/>
              </a:ext>
            </a:extLst>
          </p:cNvPr>
          <p:cNvSpPr>
            <a:spLocks noGrp="1"/>
          </p:cNvSpPr>
          <p:nvPr>
            <p:ph type="sldNum" sz="quarter" idx="12"/>
          </p:nvPr>
        </p:nvSpPr>
        <p:spPr/>
        <p:txBody>
          <a:bodyPr/>
          <a:lstStyle/>
          <a:p>
            <a:fld id="{3A98EE3D-8CD1-4C3F-BD1C-C98C9596463C}" type="slidenum">
              <a:rPr lang="en-US" smtClean="0"/>
              <a:t>5</a:t>
            </a:fld>
            <a:endParaRPr lang="en-US" dirty="0"/>
          </a:p>
        </p:txBody>
      </p:sp>
      <p:sp>
        <p:nvSpPr>
          <p:cNvPr id="7" name="TextBox 6">
            <a:extLst>
              <a:ext uri="{FF2B5EF4-FFF2-40B4-BE49-F238E27FC236}">
                <a16:creationId xmlns:a16="http://schemas.microsoft.com/office/drawing/2014/main" id="{639E382A-19A6-FE66-47B3-61F127D9689F}"/>
              </a:ext>
            </a:extLst>
          </p:cNvPr>
          <p:cNvSpPr txBox="1"/>
          <p:nvPr/>
        </p:nvSpPr>
        <p:spPr>
          <a:xfrm>
            <a:off x="581191" y="5777610"/>
            <a:ext cx="11127849" cy="369332"/>
          </a:xfrm>
          <a:prstGeom prst="rect">
            <a:avLst/>
          </a:prstGeom>
          <a:noFill/>
        </p:spPr>
        <p:txBody>
          <a:bodyPr wrap="square" rtlCol="0">
            <a:spAutoFit/>
          </a:bodyPr>
          <a:lstStyle/>
          <a:p>
            <a:pPr algn="ctr"/>
            <a:r>
              <a:rPr lang="en-US" dirty="0"/>
              <a:t>Data Flow: IQ </a:t>
            </a:r>
            <a:r>
              <a:rPr lang="en-US" dirty="0">
                <a:sym typeface="Wingdings" panose="05000000000000000000" pitchFamily="2" charset="2"/>
              </a:rPr>
              <a:t>RAT RS ALU/MEM  CDB  ROB RF</a:t>
            </a:r>
            <a:endParaRPr lang="en-US" dirty="0"/>
          </a:p>
        </p:txBody>
      </p:sp>
    </p:spTree>
    <p:extLst>
      <p:ext uri="{BB962C8B-B14F-4D97-AF65-F5344CB8AC3E}">
        <p14:creationId xmlns:p14="http://schemas.microsoft.com/office/powerpoint/2010/main" val="371781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68F44-8944-F5FE-FD52-D4C935C51FCC}"/>
              </a:ext>
            </a:extLst>
          </p:cNvPr>
          <p:cNvSpPr>
            <a:spLocks noGrp="1"/>
          </p:cNvSpPr>
          <p:nvPr>
            <p:ph type="title"/>
          </p:nvPr>
        </p:nvSpPr>
        <p:spPr/>
        <p:txBody>
          <a:bodyPr/>
          <a:lstStyle/>
          <a:p>
            <a:r>
              <a:rPr lang="en-US" dirty="0"/>
              <a:t>Key components – The Big three</a:t>
            </a:r>
          </a:p>
        </p:txBody>
      </p:sp>
      <p:sp>
        <p:nvSpPr>
          <p:cNvPr id="3" name="Content Placeholder 2">
            <a:extLst>
              <a:ext uri="{FF2B5EF4-FFF2-40B4-BE49-F238E27FC236}">
                <a16:creationId xmlns:a16="http://schemas.microsoft.com/office/drawing/2014/main" id="{F9754AB4-8E08-3833-F91C-2BD4AD69458C}"/>
              </a:ext>
            </a:extLst>
          </p:cNvPr>
          <p:cNvSpPr>
            <a:spLocks noGrp="1"/>
          </p:cNvSpPr>
          <p:nvPr>
            <p:ph idx="1"/>
          </p:nvPr>
        </p:nvSpPr>
        <p:spPr/>
        <p:txBody>
          <a:bodyPr>
            <a:normAutofit fontScale="77500" lnSpcReduction="20000"/>
          </a:bodyPr>
          <a:lstStyle/>
          <a:p>
            <a:pPr marL="0" indent="0">
              <a:buNone/>
            </a:pPr>
            <a:r>
              <a:rPr lang="en-US" dirty="0"/>
              <a:t>Three Critical Components:</a:t>
            </a:r>
          </a:p>
          <a:p>
            <a:pPr>
              <a:buFont typeface="Wingdings" panose="05000000000000000000" pitchFamily="2" charset="2"/>
              <a:buChar char="§"/>
            </a:pPr>
            <a:r>
              <a:rPr lang="en-US" dirty="0"/>
              <a:t>RAT (Register Alias Table)</a:t>
            </a:r>
          </a:p>
          <a:p>
            <a:pPr lvl="1">
              <a:buFont typeface="Wingdings" panose="05000000000000000000" pitchFamily="2" charset="2"/>
              <a:buChar char="§"/>
            </a:pPr>
            <a:r>
              <a:rPr lang="en-US" dirty="0"/>
              <a:t>Maps x0 to x31 to ROB entries</a:t>
            </a:r>
          </a:p>
          <a:p>
            <a:pPr lvl="1">
              <a:buFont typeface="Wingdings" panose="05000000000000000000" pitchFamily="2" charset="2"/>
              <a:buChar char="§"/>
            </a:pPr>
            <a:r>
              <a:rPr lang="en-US" dirty="0"/>
              <a:t>Eliminates WAR/WAW hazards</a:t>
            </a:r>
          </a:p>
          <a:p>
            <a:pPr lvl="1">
              <a:buFont typeface="Wingdings" panose="05000000000000000000" pitchFamily="2" charset="2"/>
              <a:buChar char="§"/>
            </a:pPr>
            <a:r>
              <a:rPr lang="en-US" dirty="0"/>
              <a:t>Enables out-of-order execution</a:t>
            </a:r>
          </a:p>
          <a:p>
            <a:pPr>
              <a:buFont typeface="Wingdings" panose="05000000000000000000" pitchFamily="2" charset="2"/>
              <a:buChar char="§"/>
            </a:pPr>
            <a:r>
              <a:rPr lang="en-US" dirty="0"/>
              <a:t>RS (Reservation Stations)</a:t>
            </a:r>
          </a:p>
          <a:p>
            <a:pPr lvl="1">
              <a:buFont typeface="Wingdings" panose="05000000000000000000" pitchFamily="2" charset="2"/>
              <a:buChar char="§"/>
            </a:pPr>
            <a:r>
              <a:rPr lang="en-US" dirty="0"/>
              <a:t>Buffers instructions and operands</a:t>
            </a:r>
          </a:p>
          <a:p>
            <a:pPr lvl="1">
              <a:buFont typeface="Wingdings" panose="05000000000000000000" pitchFamily="2" charset="2"/>
              <a:buChar char="§"/>
            </a:pPr>
            <a:r>
              <a:rPr lang="en-US" dirty="0"/>
              <a:t>Watches CDB for operands</a:t>
            </a:r>
          </a:p>
          <a:p>
            <a:pPr lvl="1">
              <a:buFont typeface="Wingdings" panose="05000000000000000000" pitchFamily="2" charset="2"/>
              <a:buChar char="§"/>
            </a:pPr>
            <a:r>
              <a:rPr lang="en-US" dirty="0"/>
              <a:t>Issue when ready (not in program order)</a:t>
            </a:r>
          </a:p>
          <a:p>
            <a:pPr lvl="1">
              <a:buFont typeface="Wingdings" panose="05000000000000000000" pitchFamily="2" charset="2"/>
              <a:buChar char="§"/>
            </a:pPr>
            <a:r>
              <a:rPr lang="en-US" dirty="0"/>
              <a:t>This is where OOO happens</a:t>
            </a:r>
          </a:p>
          <a:p>
            <a:pPr>
              <a:buFont typeface="Wingdings" panose="05000000000000000000" pitchFamily="2" charset="2"/>
              <a:buChar char="§"/>
            </a:pPr>
            <a:r>
              <a:rPr lang="en-US" dirty="0"/>
              <a:t>ROB (Reorder Buffer)</a:t>
            </a:r>
          </a:p>
          <a:p>
            <a:pPr lvl="1">
              <a:buFont typeface="Wingdings" panose="05000000000000000000" pitchFamily="2" charset="2"/>
              <a:buChar char="§"/>
            </a:pPr>
            <a:r>
              <a:rPr lang="en-US" dirty="0"/>
              <a:t>Tracks all in-flight instructions</a:t>
            </a:r>
          </a:p>
          <a:p>
            <a:pPr lvl="1">
              <a:buFont typeface="Wingdings" panose="05000000000000000000" pitchFamily="2" charset="2"/>
              <a:buChar char="§"/>
            </a:pPr>
            <a:r>
              <a:rPr lang="en-US" dirty="0"/>
              <a:t>Commits in program order</a:t>
            </a:r>
          </a:p>
          <a:p>
            <a:pPr lvl="1">
              <a:buFont typeface="Wingdings" panose="05000000000000000000" pitchFamily="2" charset="2"/>
              <a:buChar char="§"/>
            </a:pPr>
            <a:r>
              <a:rPr lang="en-US" dirty="0"/>
              <a:t>This is why it’s safe to go out-of-order</a:t>
            </a:r>
          </a:p>
        </p:txBody>
      </p:sp>
      <p:sp>
        <p:nvSpPr>
          <p:cNvPr id="4" name="Slide Number Placeholder 3">
            <a:extLst>
              <a:ext uri="{FF2B5EF4-FFF2-40B4-BE49-F238E27FC236}">
                <a16:creationId xmlns:a16="http://schemas.microsoft.com/office/drawing/2014/main" id="{CBF35A98-3BB3-7070-29C8-9B5F777F6239}"/>
              </a:ext>
            </a:extLst>
          </p:cNvPr>
          <p:cNvSpPr>
            <a:spLocks noGrp="1"/>
          </p:cNvSpPr>
          <p:nvPr>
            <p:ph type="sldNum" sz="quarter" idx="12"/>
          </p:nvPr>
        </p:nvSpPr>
        <p:spPr/>
        <p:txBody>
          <a:bodyPr/>
          <a:lstStyle/>
          <a:p>
            <a:fld id="{3A98EE3D-8CD1-4C3F-BD1C-C98C9596463C}" type="slidenum">
              <a:rPr lang="en-US" smtClean="0"/>
              <a:t>6</a:t>
            </a:fld>
            <a:endParaRPr lang="en-US" dirty="0"/>
          </a:p>
        </p:txBody>
      </p:sp>
    </p:spTree>
    <p:extLst>
      <p:ext uri="{BB962C8B-B14F-4D97-AF65-F5344CB8AC3E}">
        <p14:creationId xmlns:p14="http://schemas.microsoft.com/office/powerpoint/2010/main" val="1090680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4A872-4C62-2D2E-F93B-D1D5CB9E599E}"/>
              </a:ext>
            </a:extLst>
          </p:cNvPr>
          <p:cNvSpPr>
            <a:spLocks noGrp="1"/>
          </p:cNvSpPr>
          <p:nvPr>
            <p:ph type="title"/>
          </p:nvPr>
        </p:nvSpPr>
        <p:spPr/>
        <p:txBody>
          <a:bodyPr/>
          <a:lstStyle/>
          <a:p>
            <a:r>
              <a:rPr lang="en-US" dirty="0"/>
              <a:t>RF - Register File</a:t>
            </a:r>
          </a:p>
        </p:txBody>
      </p:sp>
      <p:pic>
        <p:nvPicPr>
          <p:cNvPr id="6" name="Content Placeholder 5">
            <a:extLst>
              <a:ext uri="{FF2B5EF4-FFF2-40B4-BE49-F238E27FC236}">
                <a16:creationId xmlns:a16="http://schemas.microsoft.com/office/drawing/2014/main" id="{1138A8A6-6CDD-D38A-ECE4-B63227CD6D41}"/>
              </a:ext>
            </a:extLst>
          </p:cNvPr>
          <p:cNvPicPr>
            <a:picLocks noGrp="1" noChangeAspect="1"/>
          </p:cNvPicPr>
          <p:nvPr>
            <p:ph idx="1"/>
          </p:nvPr>
        </p:nvPicPr>
        <p:blipFill>
          <a:blip r:embed="rId3"/>
          <a:stretch>
            <a:fillRect/>
          </a:stretch>
        </p:blipFill>
        <p:spPr>
          <a:xfrm>
            <a:off x="581192" y="2032168"/>
            <a:ext cx="11230627" cy="2934957"/>
          </a:xfrm>
          <a:prstGeom prst="rect">
            <a:avLst/>
          </a:prstGeom>
        </p:spPr>
      </p:pic>
      <p:sp>
        <p:nvSpPr>
          <p:cNvPr id="4" name="Slide Number Placeholder 3">
            <a:extLst>
              <a:ext uri="{FF2B5EF4-FFF2-40B4-BE49-F238E27FC236}">
                <a16:creationId xmlns:a16="http://schemas.microsoft.com/office/drawing/2014/main" id="{92415720-B8A9-95F7-3C49-9CF3230D3599}"/>
              </a:ext>
            </a:extLst>
          </p:cNvPr>
          <p:cNvSpPr>
            <a:spLocks noGrp="1"/>
          </p:cNvSpPr>
          <p:nvPr>
            <p:ph type="sldNum" sz="quarter" idx="12"/>
          </p:nvPr>
        </p:nvSpPr>
        <p:spPr/>
        <p:txBody>
          <a:bodyPr/>
          <a:lstStyle/>
          <a:p>
            <a:fld id="{3A98EE3D-8CD1-4C3F-BD1C-C98C9596463C}" type="slidenum">
              <a:rPr lang="en-US" smtClean="0"/>
              <a:t>7</a:t>
            </a:fld>
            <a:endParaRPr lang="en-US" dirty="0"/>
          </a:p>
        </p:txBody>
      </p:sp>
      <p:sp>
        <p:nvSpPr>
          <p:cNvPr id="7" name="TextBox 6">
            <a:extLst>
              <a:ext uri="{FF2B5EF4-FFF2-40B4-BE49-F238E27FC236}">
                <a16:creationId xmlns:a16="http://schemas.microsoft.com/office/drawing/2014/main" id="{FA381E66-0DB6-067C-41BC-5C2E39BA98A0}"/>
              </a:ext>
            </a:extLst>
          </p:cNvPr>
          <p:cNvSpPr txBox="1"/>
          <p:nvPr/>
        </p:nvSpPr>
        <p:spPr>
          <a:xfrm>
            <a:off x="581192" y="5160245"/>
            <a:ext cx="11230627" cy="1200329"/>
          </a:xfrm>
          <a:prstGeom prst="rect">
            <a:avLst/>
          </a:prstGeom>
          <a:noFill/>
        </p:spPr>
        <p:txBody>
          <a:bodyPr wrap="square" rtlCol="0">
            <a:spAutoFit/>
          </a:bodyPr>
          <a:lstStyle/>
          <a:p>
            <a:r>
              <a:rPr lang="en-US" dirty="0"/>
              <a:t>Key Observations:</a:t>
            </a:r>
          </a:p>
          <a:p>
            <a:pPr marL="285750" indent="-285750">
              <a:buFont typeface="Arial" panose="020B0604020202020204" pitchFamily="34" charset="0"/>
              <a:buChar char="•"/>
            </a:pPr>
            <a:r>
              <a:rPr lang="en-US" dirty="0"/>
              <a:t>x1 and x2 written simultaneously (40-80ns)</a:t>
            </a:r>
          </a:p>
          <a:p>
            <a:pPr marL="285750" indent="-285750">
              <a:buFont typeface="Arial" panose="020B0604020202020204" pitchFamily="34" charset="0"/>
              <a:buChar char="•"/>
            </a:pPr>
            <a:r>
              <a:rPr lang="en-US" dirty="0"/>
              <a:t>Values read correctly (100 – 120ns)</a:t>
            </a:r>
          </a:p>
          <a:p>
            <a:pPr marL="285750" indent="-285750">
              <a:buFont typeface="Arial" panose="020B0604020202020204" pitchFamily="34" charset="0"/>
              <a:buChar char="•"/>
            </a:pPr>
            <a:r>
              <a:rPr lang="en-US" dirty="0"/>
              <a:t>x0 always returns zero (protected)</a:t>
            </a:r>
          </a:p>
        </p:txBody>
      </p:sp>
    </p:spTree>
    <p:extLst>
      <p:ext uri="{BB962C8B-B14F-4D97-AF65-F5344CB8AC3E}">
        <p14:creationId xmlns:p14="http://schemas.microsoft.com/office/powerpoint/2010/main" val="339275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B0E4E-D867-9F30-2AA9-F74739CE9FF3}"/>
              </a:ext>
            </a:extLst>
          </p:cNvPr>
          <p:cNvSpPr>
            <a:spLocks noGrp="1"/>
          </p:cNvSpPr>
          <p:nvPr>
            <p:ph type="title"/>
          </p:nvPr>
        </p:nvSpPr>
        <p:spPr/>
        <p:txBody>
          <a:bodyPr/>
          <a:lstStyle/>
          <a:p>
            <a:r>
              <a:rPr lang="en-US" dirty="0"/>
              <a:t>Rat – Register alias table</a:t>
            </a:r>
          </a:p>
        </p:txBody>
      </p:sp>
      <p:sp>
        <p:nvSpPr>
          <p:cNvPr id="4" name="Slide Number Placeholder 3">
            <a:extLst>
              <a:ext uri="{FF2B5EF4-FFF2-40B4-BE49-F238E27FC236}">
                <a16:creationId xmlns:a16="http://schemas.microsoft.com/office/drawing/2014/main" id="{5A161A8F-0C87-9357-29DC-D2D759B5972F}"/>
              </a:ext>
            </a:extLst>
          </p:cNvPr>
          <p:cNvSpPr>
            <a:spLocks noGrp="1"/>
          </p:cNvSpPr>
          <p:nvPr>
            <p:ph type="sldNum" sz="quarter" idx="12"/>
          </p:nvPr>
        </p:nvSpPr>
        <p:spPr/>
        <p:txBody>
          <a:bodyPr/>
          <a:lstStyle/>
          <a:p>
            <a:fld id="{3A98EE3D-8CD1-4C3F-BD1C-C98C9596463C}" type="slidenum">
              <a:rPr lang="en-US" smtClean="0"/>
              <a:t>8</a:t>
            </a:fld>
            <a:endParaRPr lang="en-US" dirty="0"/>
          </a:p>
        </p:txBody>
      </p:sp>
      <p:sp>
        <p:nvSpPr>
          <p:cNvPr id="7" name="TextBox 6">
            <a:extLst>
              <a:ext uri="{FF2B5EF4-FFF2-40B4-BE49-F238E27FC236}">
                <a16:creationId xmlns:a16="http://schemas.microsoft.com/office/drawing/2014/main" id="{2551B54C-4A1C-FF98-CAC7-68FEB48BF09C}"/>
              </a:ext>
            </a:extLst>
          </p:cNvPr>
          <p:cNvSpPr txBox="1"/>
          <p:nvPr/>
        </p:nvSpPr>
        <p:spPr>
          <a:xfrm>
            <a:off x="580857" y="5223585"/>
            <a:ext cx="11230627" cy="1200329"/>
          </a:xfrm>
          <a:prstGeom prst="rect">
            <a:avLst/>
          </a:prstGeom>
          <a:noFill/>
        </p:spPr>
        <p:txBody>
          <a:bodyPr wrap="square" rtlCol="0">
            <a:spAutoFit/>
          </a:bodyPr>
          <a:lstStyle/>
          <a:p>
            <a:r>
              <a:rPr lang="en-US" dirty="0"/>
              <a:t>Key Observations:</a:t>
            </a:r>
          </a:p>
          <a:p>
            <a:pPr marL="285750" indent="-285750">
              <a:buFont typeface="Arial" panose="020B0604020202020204" pitchFamily="34" charset="0"/>
              <a:buChar char="•"/>
            </a:pPr>
            <a:r>
              <a:rPr lang="en-US" dirty="0"/>
              <a:t>x1</a:t>
            </a:r>
            <a:r>
              <a:rPr lang="en-US" dirty="0">
                <a:sym typeface="Wingdings" panose="05000000000000000000" pitchFamily="2" charset="2"/>
              </a:rPr>
              <a:t> ROB3(tag 0011)</a:t>
            </a:r>
          </a:p>
          <a:p>
            <a:pPr marL="285750" indent="-285750">
              <a:buFont typeface="Arial" panose="020B0604020202020204" pitchFamily="34" charset="0"/>
              <a:buChar char="•"/>
            </a:pPr>
            <a:r>
              <a:rPr lang="en-US" dirty="0">
                <a:sym typeface="Wingdings" panose="05000000000000000000" pitchFamily="2" charset="2"/>
              </a:rPr>
              <a:t>x2 ROB5(tag 0101)</a:t>
            </a:r>
          </a:p>
          <a:p>
            <a:pPr marL="285750" indent="-285750">
              <a:buFont typeface="Arial" panose="020B0604020202020204" pitchFamily="34" charset="0"/>
              <a:buChar char="•"/>
            </a:pPr>
            <a:r>
              <a:rPr lang="en-US" dirty="0">
                <a:sym typeface="Wingdings" panose="05000000000000000000" pitchFamily="2" charset="2"/>
              </a:rPr>
              <a:t>Reads return the ROB tags</a:t>
            </a:r>
            <a:endParaRPr lang="en-US" dirty="0"/>
          </a:p>
        </p:txBody>
      </p:sp>
      <p:pic>
        <p:nvPicPr>
          <p:cNvPr id="11" name="Content Placeholder 10">
            <a:extLst>
              <a:ext uri="{FF2B5EF4-FFF2-40B4-BE49-F238E27FC236}">
                <a16:creationId xmlns:a16="http://schemas.microsoft.com/office/drawing/2014/main" id="{E19A9504-E1FA-6FB4-2F7A-854B0E622441}"/>
              </a:ext>
            </a:extLst>
          </p:cNvPr>
          <p:cNvPicPr>
            <a:picLocks noGrp="1" noChangeAspect="1"/>
          </p:cNvPicPr>
          <p:nvPr>
            <p:ph idx="1"/>
          </p:nvPr>
        </p:nvPicPr>
        <p:blipFill>
          <a:blip r:embed="rId3"/>
          <a:stretch>
            <a:fillRect/>
          </a:stretch>
        </p:blipFill>
        <p:spPr>
          <a:xfrm>
            <a:off x="581024" y="2021000"/>
            <a:ext cx="11230459" cy="3127596"/>
          </a:xfrm>
          <a:prstGeom prst="rect">
            <a:avLst/>
          </a:prstGeom>
        </p:spPr>
      </p:pic>
    </p:spTree>
    <p:extLst>
      <p:ext uri="{BB962C8B-B14F-4D97-AF65-F5344CB8AC3E}">
        <p14:creationId xmlns:p14="http://schemas.microsoft.com/office/powerpoint/2010/main" val="4235160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5D53F-BE4C-3007-C63E-24546D60C5DA}"/>
              </a:ext>
            </a:extLst>
          </p:cNvPr>
          <p:cNvSpPr>
            <a:spLocks noGrp="1"/>
          </p:cNvSpPr>
          <p:nvPr>
            <p:ph type="title"/>
          </p:nvPr>
        </p:nvSpPr>
        <p:spPr/>
        <p:txBody>
          <a:bodyPr/>
          <a:lstStyle/>
          <a:p>
            <a:r>
              <a:rPr lang="en-US" dirty="0"/>
              <a:t>RS - Reservation stations</a:t>
            </a:r>
          </a:p>
        </p:txBody>
      </p:sp>
      <p:pic>
        <p:nvPicPr>
          <p:cNvPr id="7" name="Content Placeholder 6">
            <a:extLst>
              <a:ext uri="{FF2B5EF4-FFF2-40B4-BE49-F238E27FC236}">
                <a16:creationId xmlns:a16="http://schemas.microsoft.com/office/drawing/2014/main" id="{CF2F4372-B4FE-02C3-D3D7-B19D5F4A998C}"/>
              </a:ext>
            </a:extLst>
          </p:cNvPr>
          <p:cNvPicPr>
            <a:picLocks noGrp="1" noChangeAspect="1"/>
          </p:cNvPicPr>
          <p:nvPr>
            <p:ph idx="1"/>
          </p:nvPr>
        </p:nvPicPr>
        <p:blipFill>
          <a:blip r:embed="rId3"/>
          <a:stretch>
            <a:fillRect/>
          </a:stretch>
        </p:blipFill>
        <p:spPr>
          <a:xfrm>
            <a:off x="580857" y="1978143"/>
            <a:ext cx="11230626" cy="3094740"/>
          </a:xfrm>
          <a:prstGeom prst="rect">
            <a:avLst/>
          </a:prstGeom>
        </p:spPr>
      </p:pic>
      <p:sp>
        <p:nvSpPr>
          <p:cNvPr id="4" name="Slide Number Placeholder 3">
            <a:extLst>
              <a:ext uri="{FF2B5EF4-FFF2-40B4-BE49-F238E27FC236}">
                <a16:creationId xmlns:a16="http://schemas.microsoft.com/office/drawing/2014/main" id="{242FB2B7-E3D1-251F-A21E-B9BF7A8A5281}"/>
              </a:ext>
            </a:extLst>
          </p:cNvPr>
          <p:cNvSpPr>
            <a:spLocks noGrp="1"/>
          </p:cNvSpPr>
          <p:nvPr>
            <p:ph type="sldNum" sz="quarter" idx="12"/>
          </p:nvPr>
        </p:nvSpPr>
        <p:spPr/>
        <p:txBody>
          <a:bodyPr/>
          <a:lstStyle/>
          <a:p>
            <a:fld id="{3A98EE3D-8CD1-4C3F-BD1C-C98C9596463C}" type="slidenum">
              <a:rPr lang="en-US" smtClean="0"/>
              <a:t>9</a:t>
            </a:fld>
            <a:endParaRPr lang="en-US" dirty="0"/>
          </a:p>
        </p:txBody>
      </p:sp>
      <p:sp>
        <p:nvSpPr>
          <p:cNvPr id="5" name="TextBox 4">
            <a:extLst>
              <a:ext uri="{FF2B5EF4-FFF2-40B4-BE49-F238E27FC236}">
                <a16:creationId xmlns:a16="http://schemas.microsoft.com/office/drawing/2014/main" id="{579ED708-7E08-7B60-6B04-5AAC53533FE2}"/>
              </a:ext>
            </a:extLst>
          </p:cNvPr>
          <p:cNvSpPr txBox="1"/>
          <p:nvPr/>
        </p:nvSpPr>
        <p:spPr>
          <a:xfrm>
            <a:off x="580857" y="5223585"/>
            <a:ext cx="11230627" cy="1477328"/>
          </a:xfrm>
          <a:prstGeom prst="rect">
            <a:avLst/>
          </a:prstGeom>
          <a:noFill/>
        </p:spPr>
        <p:txBody>
          <a:bodyPr wrap="square" rtlCol="0">
            <a:spAutoFit/>
          </a:bodyPr>
          <a:lstStyle/>
          <a:p>
            <a:r>
              <a:rPr lang="en-US" dirty="0"/>
              <a:t>Key Observations:</a:t>
            </a:r>
          </a:p>
          <a:p>
            <a:pPr marL="285750" indent="-285750">
              <a:buFont typeface="Arial" panose="020B0604020202020204" pitchFamily="34" charset="0"/>
              <a:buChar char="•"/>
            </a:pPr>
            <a:r>
              <a:rPr lang="en-US" dirty="0">
                <a:sym typeface="Wingdings" panose="05000000000000000000" pitchFamily="2" charset="2"/>
              </a:rPr>
              <a:t>Instruction with both operands execute immediately</a:t>
            </a:r>
          </a:p>
          <a:p>
            <a:pPr marL="285750" indent="-285750">
              <a:buFont typeface="Arial" panose="020B0604020202020204" pitchFamily="34" charset="0"/>
              <a:buChar char="•"/>
            </a:pPr>
            <a:r>
              <a:rPr lang="en-US" dirty="0">
                <a:sym typeface="Wingdings" panose="05000000000000000000" pitchFamily="2" charset="2"/>
              </a:rPr>
              <a:t>Instruction with missing operand waits</a:t>
            </a:r>
          </a:p>
          <a:p>
            <a:pPr marL="285750" indent="-285750">
              <a:buFont typeface="Arial" panose="020B0604020202020204" pitchFamily="34" charset="0"/>
              <a:buChar char="•"/>
            </a:pPr>
            <a:r>
              <a:rPr lang="en-US" dirty="0">
                <a:sym typeface="Wingdings" panose="05000000000000000000" pitchFamily="2" charset="2"/>
              </a:rPr>
              <a:t>CDB broadcasts operands at 80ns</a:t>
            </a:r>
          </a:p>
          <a:p>
            <a:pPr marL="285750" indent="-285750">
              <a:buFont typeface="Arial" panose="020B0604020202020204" pitchFamily="34" charset="0"/>
              <a:buChar char="•"/>
            </a:pPr>
            <a:r>
              <a:rPr lang="en-US" dirty="0">
                <a:sym typeface="Wingdings" panose="05000000000000000000" pitchFamily="2" charset="2"/>
              </a:rPr>
              <a:t>Waiting instruction becomes ready and executes</a:t>
            </a:r>
          </a:p>
        </p:txBody>
      </p:sp>
    </p:spTree>
    <p:extLst>
      <p:ext uri="{BB962C8B-B14F-4D97-AF65-F5344CB8AC3E}">
        <p14:creationId xmlns:p14="http://schemas.microsoft.com/office/powerpoint/2010/main" val="3511939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6F4C9-E8F2-D9D7-5214-2567FC4095C1}"/>
              </a:ext>
            </a:extLst>
          </p:cNvPr>
          <p:cNvSpPr>
            <a:spLocks noGrp="1"/>
          </p:cNvSpPr>
          <p:nvPr>
            <p:ph type="title"/>
          </p:nvPr>
        </p:nvSpPr>
        <p:spPr/>
        <p:txBody>
          <a:bodyPr/>
          <a:lstStyle/>
          <a:p>
            <a:r>
              <a:rPr lang="en-US" dirty="0"/>
              <a:t>ROB – Reorder buffer</a:t>
            </a:r>
          </a:p>
        </p:txBody>
      </p:sp>
      <p:pic>
        <p:nvPicPr>
          <p:cNvPr id="7" name="Content Placeholder 6">
            <a:extLst>
              <a:ext uri="{FF2B5EF4-FFF2-40B4-BE49-F238E27FC236}">
                <a16:creationId xmlns:a16="http://schemas.microsoft.com/office/drawing/2014/main" id="{EA22CADC-DBA5-66EC-A5D2-852BF2B78DE6}"/>
              </a:ext>
            </a:extLst>
          </p:cNvPr>
          <p:cNvPicPr>
            <a:picLocks noGrp="1" noChangeAspect="1"/>
          </p:cNvPicPr>
          <p:nvPr>
            <p:ph idx="1"/>
          </p:nvPr>
        </p:nvPicPr>
        <p:blipFill>
          <a:blip r:embed="rId3"/>
          <a:stretch>
            <a:fillRect/>
          </a:stretch>
        </p:blipFill>
        <p:spPr>
          <a:xfrm>
            <a:off x="581024" y="2105269"/>
            <a:ext cx="11230459" cy="2996734"/>
          </a:xfrm>
          <a:prstGeom prst="rect">
            <a:avLst/>
          </a:prstGeom>
        </p:spPr>
      </p:pic>
      <p:sp>
        <p:nvSpPr>
          <p:cNvPr id="4" name="Slide Number Placeholder 3">
            <a:extLst>
              <a:ext uri="{FF2B5EF4-FFF2-40B4-BE49-F238E27FC236}">
                <a16:creationId xmlns:a16="http://schemas.microsoft.com/office/drawing/2014/main" id="{1EE25BE2-3E56-E5F8-3D85-1EF63B9E468B}"/>
              </a:ext>
            </a:extLst>
          </p:cNvPr>
          <p:cNvSpPr>
            <a:spLocks noGrp="1"/>
          </p:cNvSpPr>
          <p:nvPr>
            <p:ph type="sldNum" sz="quarter" idx="12"/>
          </p:nvPr>
        </p:nvSpPr>
        <p:spPr/>
        <p:txBody>
          <a:bodyPr/>
          <a:lstStyle/>
          <a:p>
            <a:fld id="{3A98EE3D-8CD1-4C3F-BD1C-C98C9596463C}" type="slidenum">
              <a:rPr lang="en-US" smtClean="0"/>
              <a:t>10</a:t>
            </a:fld>
            <a:endParaRPr lang="en-US" dirty="0"/>
          </a:p>
        </p:txBody>
      </p:sp>
      <p:sp>
        <p:nvSpPr>
          <p:cNvPr id="5" name="TextBox 4">
            <a:extLst>
              <a:ext uri="{FF2B5EF4-FFF2-40B4-BE49-F238E27FC236}">
                <a16:creationId xmlns:a16="http://schemas.microsoft.com/office/drawing/2014/main" id="{992BC532-927A-5832-3237-245C32570C6D}"/>
              </a:ext>
            </a:extLst>
          </p:cNvPr>
          <p:cNvSpPr txBox="1"/>
          <p:nvPr/>
        </p:nvSpPr>
        <p:spPr>
          <a:xfrm>
            <a:off x="580857" y="5223585"/>
            <a:ext cx="11230627" cy="1477328"/>
          </a:xfrm>
          <a:prstGeom prst="rect">
            <a:avLst/>
          </a:prstGeom>
          <a:noFill/>
        </p:spPr>
        <p:txBody>
          <a:bodyPr wrap="square" rtlCol="0">
            <a:spAutoFit/>
          </a:bodyPr>
          <a:lstStyle/>
          <a:p>
            <a:r>
              <a:rPr lang="en-US" dirty="0"/>
              <a:t>Key Observations:</a:t>
            </a:r>
          </a:p>
          <a:p>
            <a:pPr marL="285750" indent="-285750">
              <a:buFont typeface="Arial" panose="020B0604020202020204" pitchFamily="34" charset="0"/>
              <a:buChar char="•"/>
            </a:pPr>
            <a:r>
              <a:rPr lang="en-US" dirty="0">
                <a:sym typeface="Wingdings" panose="05000000000000000000" pitchFamily="2" charset="2"/>
              </a:rPr>
              <a:t>Three instructions enqueue</a:t>
            </a:r>
          </a:p>
          <a:p>
            <a:pPr marL="285750" indent="-285750">
              <a:buFont typeface="Arial" panose="020B0604020202020204" pitchFamily="34" charset="0"/>
              <a:buChar char="•"/>
            </a:pPr>
            <a:r>
              <a:rPr lang="en-US" dirty="0">
                <a:sym typeface="Wingdings" panose="05000000000000000000" pitchFamily="2" charset="2"/>
              </a:rPr>
              <a:t>Results come in on CDB</a:t>
            </a:r>
          </a:p>
          <a:p>
            <a:pPr marL="285750" indent="-285750">
              <a:buFont typeface="Arial" panose="020B0604020202020204" pitchFamily="34" charset="0"/>
              <a:buChar char="•"/>
            </a:pPr>
            <a:r>
              <a:rPr lang="en-US" dirty="0">
                <a:sym typeface="Wingdings" panose="05000000000000000000" pitchFamily="2" charset="2"/>
              </a:rPr>
              <a:t>Instructions commit in order (sequential)</a:t>
            </a:r>
          </a:p>
          <a:p>
            <a:pPr marL="285750" indent="-285750">
              <a:buFont typeface="Arial" panose="020B0604020202020204" pitchFamily="34" charset="0"/>
              <a:buChar char="•"/>
            </a:pPr>
            <a:r>
              <a:rPr lang="en-US" dirty="0">
                <a:sym typeface="Wingdings" panose="05000000000000000000" pitchFamily="2" charset="2"/>
              </a:rPr>
              <a:t>ROB full detection works</a:t>
            </a:r>
          </a:p>
        </p:txBody>
      </p:sp>
    </p:spTree>
    <p:extLst>
      <p:ext uri="{BB962C8B-B14F-4D97-AF65-F5344CB8AC3E}">
        <p14:creationId xmlns:p14="http://schemas.microsoft.com/office/powerpoint/2010/main" val="5814940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2B62B-14E9-0194-104E-84FE1CFF5C7D}"/>
              </a:ext>
            </a:extLst>
          </p:cNvPr>
          <p:cNvSpPr>
            <a:spLocks noGrp="1"/>
          </p:cNvSpPr>
          <p:nvPr>
            <p:ph type="title"/>
          </p:nvPr>
        </p:nvSpPr>
        <p:spPr>
          <a:xfrm>
            <a:off x="581192" y="694273"/>
            <a:ext cx="11029616" cy="1188720"/>
          </a:xfrm>
        </p:spPr>
        <p:txBody>
          <a:bodyPr/>
          <a:lstStyle/>
          <a:p>
            <a:r>
              <a:rPr lang="en-US" dirty="0"/>
              <a:t>VHDL Implementation – code snippets</a:t>
            </a:r>
          </a:p>
        </p:txBody>
      </p:sp>
      <p:pic>
        <p:nvPicPr>
          <p:cNvPr id="6" name="Content Placeholder 5">
            <a:extLst>
              <a:ext uri="{FF2B5EF4-FFF2-40B4-BE49-F238E27FC236}">
                <a16:creationId xmlns:a16="http://schemas.microsoft.com/office/drawing/2014/main" id="{88E5725C-6962-CAB6-35D1-AD47090DF111}"/>
              </a:ext>
            </a:extLst>
          </p:cNvPr>
          <p:cNvPicPr>
            <a:picLocks noGrp="1" noChangeAspect="1"/>
          </p:cNvPicPr>
          <p:nvPr>
            <p:ph idx="1"/>
          </p:nvPr>
        </p:nvPicPr>
        <p:blipFill>
          <a:blip r:embed="rId3"/>
          <a:stretch>
            <a:fillRect/>
          </a:stretch>
        </p:blipFill>
        <p:spPr>
          <a:xfrm>
            <a:off x="581025" y="2348255"/>
            <a:ext cx="11230460" cy="2753747"/>
          </a:xfrm>
          <a:prstGeom prst="rect">
            <a:avLst/>
          </a:prstGeom>
        </p:spPr>
      </p:pic>
      <p:sp>
        <p:nvSpPr>
          <p:cNvPr id="4" name="Slide Number Placeholder 3">
            <a:extLst>
              <a:ext uri="{FF2B5EF4-FFF2-40B4-BE49-F238E27FC236}">
                <a16:creationId xmlns:a16="http://schemas.microsoft.com/office/drawing/2014/main" id="{A9A3A404-6EB1-0B52-77A8-9AB3C80F0171}"/>
              </a:ext>
            </a:extLst>
          </p:cNvPr>
          <p:cNvSpPr>
            <a:spLocks noGrp="1"/>
          </p:cNvSpPr>
          <p:nvPr>
            <p:ph type="sldNum" sz="quarter" idx="12"/>
          </p:nvPr>
        </p:nvSpPr>
        <p:spPr/>
        <p:txBody>
          <a:bodyPr/>
          <a:lstStyle/>
          <a:p>
            <a:fld id="{3A98EE3D-8CD1-4C3F-BD1C-C98C9596463C}" type="slidenum">
              <a:rPr lang="en-US" smtClean="0"/>
              <a:t>11</a:t>
            </a:fld>
            <a:endParaRPr lang="en-US" dirty="0"/>
          </a:p>
        </p:txBody>
      </p:sp>
      <p:sp>
        <p:nvSpPr>
          <p:cNvPr id="7" name="TextBox 6">
            <a:extLst>
              <a:ext uri="{FF2B5EF4-FFF2-40B4-BE49-F238E27FC236}">
                <a16:creationId xmlns:a16="http://schemas.microsoft.com/office/drawing/2014/main" id="{F4F1F55F-6ED3-35B8-9BCA-5AFDD02F665B}"/>
              </a:ext>
            </a:extLst>
          </p:cNvPr>
          <p:cNvSpPr txBox="1"/>
          <p:nvPr/>
        </p:nvSpPr>
        <p:spPr>
          <a:xfrm>
            <a:off x="580857" y="5223585"/>
            <a:ext cx="11230627" cy="1200329"/>
          </a:xfrm>
          <a:prstGeom prst="rect">
            <a:avLst/>
          </a:prstGeom>
          <a:noFill/>
        </p:spPr>
        <p:txBody>
          <a:bodyPr wrap="square" rtlCol="0">
            <a:spAutoFit/>
          </a:bodyPr>
          <a:lstStyle/>
          <a:p>
            <a:r>
              <a:rPr lang="en-US" dirty="0"/>
              <a:t>Key Observations:</a:t>
            </a:r>
          </a:p>
          <a:p>
            <a:pPr marL="285750" indent="-285750">
              <a:buFont typeface="Arial" panose="020B0604020202020204" pitchFamily="34" charset="0"/>
              <a:buChar char="•"/>
            </a:pPr>
            <a:r>
              <a:rPr lang="en-US" dirty="0"/>
              <a:t>Complete pipeline ADDI, LW, ADD</a:t>
            </a:r>
          </a:p>
          <a:p>
            <a:pPr marL="285750" indent="-285750">
              <a:buFont typeface="Arial" panose="020B0604020202020204" pitchFamily="34" charset="0"/>
              <a:buChar char="•"/>
            </a:pPr>
            <a:r>
              <a:rPr lang="en-US" dirty="0" err="1">
                <a:sym typeface="Wingdings" panose="05000000000000000000" pitchFamily="2" charset="2"/>
              </a:rPr>
              <a:t>cdbValid</a:t>
            </a:r>
            <a:r>
              <a:rPr lang="en-US" dirty="0">
                <a:sym typeface="Wingdings" panose="05000000000000000000" pitchFamily="2" charset="2"/>
              </a:rPr>
              <a:t> pulses at different times (out-of-order execution)</a:t>
            </a:r>
          </a:p>
          <a:p>
            <a:pPr marL="285750" indent="-285750">
              <a:buFont typeface="Arial" panose="020B0604020202020204" pitchFamily="34" charset="0"/>
              <a:buChar char="•"/>
            </a:pPr>
            <a:r>
              <a:rPr lang="en-US" dirty="0" err="1">
                <a:sym typeface="Wingdings" panose="05000000000000000000" pitchFamily="2" charset="2"/>
              </a:rPr>
              <a:t>commitEnable</a:t>
            </a:r>
            <a:r>
              <a:rPr lang="en-US" dirty="0">
                <a:sym typeface="Wingdings" panose="05000000000000000000" pitchFamily="2" charset="2"/>
              </a:rPr>
              <a:t> pulses sequentially (in-order commitment)</a:t>
            </a:r>
          </a:p>
        </p:txBody>
      </p:sp>
    </p:spTree>
    <p:extLst>
      <p:ext uri="{BB962C8B-B14F-4D97-AF65-F5344CB8AC3E}">
        <p14:creationId xmlns:p14="http://schemas.microsoft.com/office/powerpoint/2010/main" val="2810775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B5979-B3C5-5AFE-3AB1-1D8FFF09F0E8}"/>
              </a:ext>
            </a:extLst>
          </p:cNvPr>
          <p:cNvSpPr>
            <a:spLocks noGrp="1"/>
          </p:cNvSpPr>
          <p:nvPr>
            <p:ph type="title"/>
          </p:nvPr>
        </p:nvSpPr>
        <p:spPr>
          <a:xfrm>
            <a:off x="581192" y="710039"/>
            <a:ext cx="11029616" cy="1188720"/>
          </a:xfrm>
        </p:spPr>
        <p:txBody>
          <a:bodyPr/>
          <a:lstStyle/>
          <a:p>
            <a:r>
              <a:rPr lang="en-US" dirty="0"/>
              <a:t>Thank you</a:t>
            </a:r>
          </a:p>
        </p:txBody>
      </p:sp>
      <p:sp>
        <p:nvSpPr>
          <p:cNvPr id="3" name="Content Placeholder 2">
            <a:extLst>
              <a:ext uri="{FF2B5EF4-FFF2-40B4-BE49-F238E27FC236}">
                <a16:creationId xmlns:a16="http://schemas.microsoft.com/office/drawing/2014/main" id="{1BE02391-1CCE-B6F5-0B9E-D445571CE97C}"/>
              </a:ext>
            </a:extLst>
          </p:cNvPr>
          <p:cNvSpPr>
            <a:spLocks noGrp="1"/>
          </p:cNvSpPr>
          <p:nvPr>
            <p:ph idx="1"/>
          </p:nvPr>
        </p:nvSpPr>
        <p:spPr/>
        <p:txBody>
          <a:bodyPr/>
          <a:lstStyle/>
          <a:p>
            <a:r>
              <a:rPr lang="en-US" dirty="0"/>
              <a:t>GitHub Link: </a:t>
            </a:r>
            <a:r>
              <a:rPr lang="en-US" dirty="0">
                <a:hlinkClick r:id="rId3"/>
              </a:rPr>
              <a:t>https://github.com/Antwann03/RISC-V-OOO-Processor-with-Tomasulos-Algorithm</a:t>
            </a:r>
            <a:endParaRPr lang="en-US" dirty="0"/>
          </a:p>
          <a:p>
            <a:pPr lvl="1"/>
            <a:r>
              <a:rPr lang="en-US" dirty="0"/>
              <a:t>Has the following paper, presentation, archived project, and zoom recording video link in a text file.</a:t>
            </a:r>
          </a:p>
        </p:txBody>
      </p:sp>
      <p:sp>
        <p:nvSpPr>
          <p:cNvPr id="4" name="Slide Number Placeholder 3">
            <a:extLst>
              <a:ext uri="{FF2B5EF4-FFF2-40B4-BE49-F238E27FC236}">
                <a16:creationId xmlns:a16="http://schemas.microsoft.com/office/drawing/2014/main" id="{E927C88B-DC17-7F29-F2C4-E75D6A952950}"/>
              </a:ext>
            </a:extLst>
          </p:cNvPr>
          <p:cNvSpPr>
            <a:spLocks noGrp="1"/>
          </p:cNvSpPr>
          <p:nvPr>
            <p:ph type="sldNum" sz="quarter" idx="12"/>
          </p:nvPr>
        </p:nvSpPr>
        <p:spPr/>
        <p:txBody>
          <a:bodyPr/>
          <a:lstStyle/>
          <a:p>
            <a:fld id="{3A98EE3D-8CD1-4C3F-BD1C-C98C9596463C}" type="slidenum">
              <a:rPr lang="en-US" smtClean="0"/>
              <a:t>12</a:t>
            </a:fld>
            <a:endParaRPr lang="en-US" dirty="0"/>
          </a:p>
        </p:txBody>
      </p:sp>
    </p:spTree>
    <p:extLst>
      <p:ext uri="{BB962C8B-B14F-4D97-AF65-F5344CB8AC3E}">
        <p14:creationId xmlns:p14="http://schemas.microsoft.com/office/powerpoint/2010/main" val="382190577"/>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927BD4C1-B6B1-4715-ABF9-E660A51A4E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{BD95A965-BFC6-49A2-885C-8FD3A59A5D1A}TF201209c3-d067-44f9-a26f-c8f216c4431347f6cf9d_win32-4021059b889a</Template>
  <TotalTime>486</TotalTime>
  <Words>2450</Words>
  <Application>Microsoft Office PowerPoint</Application>
  <PresentationFormat>Widescreen</PresentationFormat>
  <Paragraphs>167</Paragraphs>
  <Slides>12</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Franklin Gothic Book</vt:lpstr>
      <vt:lpstr>Franklin Gothic Demi</vt:lpstr>
      <vt:lpstr>Wingdings</vt:lpstr>
      <vt:lpstr>Wingdings 2</vt:lpstr>
      <vt:lpstr>DividendVTI</vt:lpstr>
      <vt:lpstr>RISC-V Out-Of-Order Processor with Tomasulo’s Algorithm</vt:lpstr>
      <vt:lpstr>Agenda</vt:lpstr>
      <vt:lpstr>Motivation – Why out of order?</vt:lpstr>
      <vt:lpstr>Tomasulo’s Algorithm Overview</vt:lpstr>
      <vt:lpstr>System Architecture/Block Diagram</vt:lpstr>
      <vt:lpstr>Key components – The Big three</vt:lpstr>
      <vt:lpstr>RF - Register File</vt:lpstr>
      <vt:lpstr>Rat – Register alias table</vt:lpstr>
      <vt:lpstr>RS - Reservation stations</vt:lpstr>
      <vt:lpstr>ROB – Reorder buffer</vt:lpstr>
      <vt:lpstr>VHDL Implementation – code snippets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Antonio Anzora Jr</dc:creator>
  <cp:lastModifiedBy>Antonio Anzora Jr</cp:lastModifiedBy>
  <cp:revision>1</cp:revision>
  <dcterms:created xsi:type="dcterms:W3CDTF">2026-04-19T23:37:30Z</dcterms:created>
  <dcterms:modified xsi:type="dcterms:W3CDTF">2026-05-06T19:39:00Z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